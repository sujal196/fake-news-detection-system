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1" r:id="rId1"/>
  </p:sldMasterIdLst>
  <p:notesMasterIdLst>
    <p:notesMasterId r:id="rId24"/>
  </p:notesMasterIdLst>
  <p:sldIdLst>
    <p:sldId id="256" r:id="rId2"/>
    <p:sldId id="257" r:id="rId3"/>
    <p:sldId id="258" r:id="rId4"/>
    <p:sldId id="259" r:id="rId5"/>
    <p:sldId id="260" r:id="rId6"/>
    <p:sldId id="261" r:id="rId7"/>
    <p:sldId id="262" r:id="rId8"/>
    <p:sldId id="271" r:id="rId9"/>
    <p:sldId id="264" r:id="rId10"/>
    <p:sldId id="289" r:id="rId11"/>
    <p:sldId id="267" r:id="rId12"/>
    <p:sldId id="265" r:id="rId13"/>
    <p:sldId id="304" r:id="rId14"/>
    <p:sldId id="266" r:id="rId15"/>
    <p:sldId id="268" r:id="rId16"/>
    <p:sldId id="269" r:id="rId17"/>
    <p:sldId id="305" r:id="rId18"/>
    <p:sldId id="277" r:id="rId19"/>
    <p:sldId id="270" r:id="rId20"/>
    <p:sldId id="287" r:id="rId21"/>
    <p:sldId id="300" r:id="rId22"/>
    <p:sldId id="29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413" autoAdjust="0"/>
  </p:normalViewPr>
  <p:slideViewPr>
    <p:cSldViewPr snapToGrid="0">
      <p:cViewPr varScale="1">
        <p:scale>
          <a:sx n="87" d="100"/>
          <a:sy n="87" d="100"/>
        </p:scale>
        <p:origin x="528" y="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A69FE8-FCA5-4AB1-B6D1-09483A669E3D}" type="datetimeFigureOut">
              <a:rPr lang="en-IN" smtClean="0"/>
              <a:t>18-06-2026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A2BF6-BE76-49AC-8918-0261AF0FD92C}" type="slidenum">
              <a:rPr lang="en-IN" smtClean="0"/>
              <a:t>‹#›</a:t>
            </a:fld>
            <a:endParaRPr lang="en-IN"/>
          </a:p>
        </p:txBody>
      </p:sp>
    </p:spTree>
    <p:extLst>
      <p:ext uri="{BB962C8B-B14F-4D97-AF65-F5344CB8AC3E}">
        <p14:creationId xmlns:p14="http://schemas.microsoft.com/office/powerpoint/2010/main" val="369052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FA2BF6-BE76-49AC-8918-0261AF0FD92C}" type="slidenum">
              <a:rPr lang="en-IN" smtClean="0"/>
              <a:t>15</a:t>
            </a:fld>
            <a:endParaRPr lang="en-IN"/>
          </a:p>
        </p:txBody>
      </p:sp>
    </p:spTree>
    <p:extLst>
      <p:ext uri="{BB962C8B-B14F-4D97-AF65-F5344CB8AC3E}">
        <p14:creationId xmlns:p14="http://schemas.microsoft.com/office/powerpoint/2010/main" val="641479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258513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268588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3250598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B6A3CF4-6AA9-4815-8237-039AB4E7509C}"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410796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6A3CF4-6AA9-4815-8237-039AB4E7509C}" type="datetimeFigureOut">
              <a:rPr lang="en-IN" smtClean="0"/>
              <a:t>18-06-2026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2107868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3255834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252087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268197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B6A3CF4-6AA9-4815-8237-039AB4E7509C}"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430113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B6A3CF4-6AA9-4815-8237-039AB4E7509C}"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3210764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4147811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66495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1111145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2919954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13669510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2405774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6A3CF4-6AA9-4815-8237-039AB4E7509C}"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A30F10-9F13-4E62-94DA-A38C1B660D06}" type="slidenum">
              <a:rPr lang="en-IN" smtClean="0"/>
              <a:t>‹#›</a:t>
            </a:fld>
            <a:endParaRPr lang="en-IN"/>
          </a:p>
        </p:txBody>
      </p:sp>
    </p:spTree>
    <p:extLst>
      <p:ext uri="{BB962C8B-B14F-4D97-AF65-F5344CB8AC3E}">
        <p14:creationId xmlns:p14="http://schemas.microsoft.com/office/powerpoint/2010/main" val="416250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B6A3CF4-6AA9-4815-8237-039AB4E7509C}" type="datetimeFigureOut">
              <a:rPr lang="en-IN" smtClean="0"/>
              <a:t>18-06-2026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5A30F10-9F13-4E62-94DA-A38C1B660D06}" type="slidenum">
              <a:rPr lang="en-IN" smtClean="0"/>
              <a:t>‹#›</a:t>
            </a:fld>
            <a:endParaRPr lang="en-IN"/>
          </a:p>
        </p:txBody>
      </p:sp>
    </p:spTree>
    <p:extLst>
      <p:ext uri="{BB962C8B-B14F-4D97-AF65-F5344CB8AC3E}">
        <p14:creationId xmlns:p14="http://schemas.microsoft.com/office/powerpoint/2010/main" val="1145602451"/>
      </p:ext>
    </p:extLst>
  </p:cSld>
  <p:clrMap bg1="dk1" tx1="lt1" bg2="dk2" tx2="lt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47" r:id="rId6"/>
    <p:sldLayoutId id="2147484048" r:id="rId7"/>
    <p:sldLayoutId id="2147484049" r:id="rId8"/>
    <p:sldLayoutId id="2147484050" r:id="rId9"/>
    <p:sldLayoutId id="2147484051" r:id="rId10"/>
    <p:sldLayoutId id="2147484052" r:id="rId11"/>
    <p:sldLayoutId id="2147484053" r:id="rId12"/>
    <p:sldLayoutId id="2147484054" r:id="rId13"/>
    <p:sldLayoutId id="2147484055" r:id="rId14"/>
    <p:sldLayoutId id="2147484056" r:id="rId15"/>
    <p:sldLayoutId id="2147484057" r:id="rId16"/>
    <p:sldLayoutId id="214748405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fake-news-detection-system-livid.vercel.ap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AA1DC-6695-9DA9-76FC-0B339BFF917A}"/>
              </a:ext>
            </a:extLst>
          </p:cNvPr>
          <p:cNvSpPr>
            <a:spLocks noGrp="1"/>
          </p:cNvSpPr>
          <p:nvPr>
            <p:ph type="ctrTitle"/>
          </p:nvPr>
        </p:nvSpPr>
        <p:spPr>
          <a:xfrm>
            <a:off x="192498" y="261257"/>
            <a:ext cx="10151706" cy="465823"/>
          </a:xfrm>
        </p:spPr>
        <p:txBody>
          <a:bodyPr>
            <a:noAutofit/>
          </a:bodyPr>
          <a:lstStyle/>
          <a:p>
            <a:r>
              <a:rPr lang="en-US" sz="2800" dirty="0" smtClean="0">
                <a:solidFill>
                  <a:schemeClr val="tx1"/>
                </a:solidFill>
                <a:latin typeface="Algerian" panose="04020705040A02060702" pitchFamily="82" charset="0"/>
                <a:cs typeface="Times New Roman" panose="02020603050405020304" pitchFamily="18" charset="0"/>
              </a:rPr>
              <a:t>SAGAR INSTITUTE OF SCIENCE TECHNOLOGY AND RESEARCH</a:t>
            </a:r>
            <a:endParaRPr lang="en-IN" sz="2800" dirty="0">
              <a:solidFill>
                <a:schemeClr val="tx1"/>
              </a:solidFill>
              <a:latin typeface="Algerian" panose="04020705040A02060702" pitchFamily="82" charset="0"/>
              <a:cs typeface="Times New Roman" panose="02020603050405020304" pitchFamily="18" charset="0"/>
            </a:endParaRPr>
          </a:p>
        </p:txBody>
      </p:sp>
      <p:sp>
        <p:nvSpPr>
          <p:cNvPr id="6" name="TextBox 5">
            <a:extLst>
              <a:ext uri="{FF2B5EF4-FFF2-40B4-BE49-F238E27FC236}">
                <a16:creationId xmlns:a16="http://schemas.microsoft.com/office/drawing/2014/main" id="{5FEDEF6C-7EA3-7C80-6DF9-3C9C6B151EB5}"/>
              </a:ext>
            </a:extLst>
          </p:cNvPr>
          <p:cNvSpPr txBox="1"/>
          <p:nvPr/>
        </p:nvSpPr>
        <p:spPr>
          <a:xfrm>
            <a:off x="7073936" y="2891796"/>
            <a:ext cx="4913070" cy="1569660"/>
          </a:xfrm>
          <a:prstGeom prst="rect">
            <a:avLst/>
          </a:prstGeom>
          <a:noFill/>
        </p:spPr>
        <p:txBody>
          <a:bodyPr wrap="square" rtlCol="0">
            <a:spAutoFit/>
          </a:bodyPr>
          <a:lstStyle/>
          <a:p>
            <a:pPr defTabSz="457200">
              <a:spcBef>
                <a:spcPct val="0"/>
              </a:spcBef>
            </a:pPr>
            <a:r>
              <a:rPr lang="en-US" sz="2000" dirty="0">
                <a:latin typeface="Algerian" panose="04020705040A02060702" pitchFamily="82" charset="0"/>
                <a:ea typeface="+mj-ea"/>
                <a:cs typeface="Times New Roman" panose="02020603050405020304" pitchFamily="18" charset="0"/>
              </a:rPr>
              <a:t>GUIDE NAME : DIVYA JAIN</a:t>
            </a:r>
          </a:p>
          <a:p>
            <a:pPr defTabSz="457200">
              <a:spcBef>
                <a:spcPct val="0"/>
              </a:spcBef>
            </a:pPr>
            <a:r>
              <a:rPr lang="en-US" sz="2000" dirty="0">
                <a:latin typeface="Algerian" panose="04020705040A02060702" pitchFamily="82" charset="0"/>
                <a:ea typeface="+mj-ea"/>
                <a:cs typeface="Times New Roman" panose="02020603050405020304" pitchFamily="18" charset="0"/>
              </a:rPr>
              <a:t>DESIGNATION : ASSISTANT PROFESSOR</a:t>
            </a:r>
          </a:p>
          <a:p>
            <a:pPr defTabSz="457200">
              <a:spcBef>
                <a:spcPct val="0"/>
              </a:spcBef>
            </a:pPr>
            <a:r>
              <a:rPr lang="en-US" sz="2000" dirty="0">
                <a:latin typeface="Algerian" panose="04020705040A02060702" pitchFamily="82" charset="0"/>
                <a:ea typeface="+mj-ea"/>
                <a:cs typeface="Times New Roman" panose="02020603050405020304" pitchFamily="18" charset="0"/>
              </a:rPr>
              <a:t>DEPARTMENT : AIML</a:t>
            </a:r>
          </a:p>
          <a:p>
            <a:pPr defTabSz="457200">
              <a:spcBef>
                <a:spcPct val="0"/>
              </a:spcBef>
            </a:pPr>
            <a:r>
              <a:rPr lang="en-US" sz="2000" dirty="0">
                <a:latin typeface="Algerian" panose="04020705040A02060702" pitchFamily="82" charset="0"/>
                <a:ea typeface="+mj-ea"/>
                <a:cs typeface="Times New Roman" panose="02020603050405020304" pitchFamily="18" charset="0"/>
              </a:rPr>
              <a:t>SISTEC RATIBAD</a:t>
            </a:r>
            <a:endParaRPr lang="en-IN" sz="2000" dirty="0">
              <a:latin typeface="Algerian" panose="04020705040A02060702" pitchFamily="82" charset="0"/>
              <a:ea typeface="+mj-ea"/>
              <a:cs typeface="Times New Roman" panose="02020603050405020304" pitchFamily="18" charset="0"/>
            </a:endParaRPr>
          </a:p>
          <a:p>
            <a:endParaRPr lang="en-IN" sz="1600" dirty="0"/>
          </a:p>
        </p:txBody>
      </p:sp>
      <p:sp>
        <p:nvSpPr>
          <p:cNvPr id="10" name="TextBox 9">
            <a:extLst>
              <a:ext uri="{FF2B5EF4-FFF2-40B4-BE49-F238E27FC236}">
                <a16:creationId xmlns:a16="http://schemas.microsoft.com/office/drawing/2014/main" id="{C5FFBC2F-DEC9-926E-EDBD-2011518DC240}"/>
              </a:ext>
            </a:extLst>
          </p:cNvPr>
          <p:cNvSpPr txBox="1"/>
          <p:nvPr/>
        </p:nvSpPr>
        <p:spPr>
          <a:xfrm>
            <a:off x="289213" y="2674402"/>
            <a:ext cx="6180310" cy="1877437"/>
          </a:xfrm>
          <a:prstGeom prst="rect">
            <a:avLst/>
          </a:prstGeom>
          <a:noFill/>
        </p:spPr>
        <p:txBody>
          <a:bodyPr wrap="square" rtlCol="0">
            <a:spAutoFit/>
          </a:bodyPr>
          <a:lstStyle/>
          <a:p>
            <a:endParaRPr lang="en-US" sz="2000" dirty="0" smtClean="0">
              <a:latin typeface="Times New Roman" panose="02020603050405020304" pitchFamily="18" charset="0"/>
              <a:cs typeface="Times New Roman" panose="02020603050405020304" pitchFamily="18" charset="0"/>
            </a:endParaRPr>
          </a:p>
          <a:p>
            <a:pPr defTabSz="457200">
              <a:spcBef>
                <a:spcPct val="0"/>
              </a:spcBef>
            </a:pPr>
            <a:r>
              <a:rPr lang="en-US" sz="2000" dirty="0">
                <a:latin typeface="Algerian" panose="04020705040A02060702" pitchFamily="82" charset="0"/>
                <a:ea typeface="+mj-ea"/>
                <a:cs typeface="Times New Roman" panose="02020603050405020304" pitchFamily="18" charset="0"/>
              </a:rPr>
              <a:t>GROUP NO : 11</a:t>
            </a:r>
          </a:p>
          <a:p>
            <a:pPr defTabSz="457200">
              <a:spcBef>
                <a:spcPct val="0"/>
              </a:spcBef>
            </a:pPr>
            <a:r>
              <a:rPr lang="en-US" sz="2000" dirty="0">
                <a:latin typeface="Algerian" panose="04020705040A02060702" pitchFamily="82" charset="0"/>
                <a:ea typeface="+mj-ea"/>
                <a:cs typeface="Times New Roman" panose="02020603050405020304" pitchFamily="18" charset="0"/>
              </a:rPr>
              <a:t>ENROLLMENT NO : 0537AL231034, 0537AL231032</a:t>
            </a:r>
          </a:p>
          <a:p>
            <a:pPr defTabSz="457200">
              <a:spcBef>
                <a:spcPct val="0"/>
              </a:spcBef>
            </a:pPr>
            <a:r>
              <a:rPr lang="en-US" sz="2000" dirty="0">
                <a:latin typeface="Algerian" panose="04020705040A02060702" pitchFamily="82" charset="0"/>
                <a:ea typeface="+mj-ea"/>
                <a:cs typeface="Times New Roman" panose="02020603050405020304" pitchFamily="18" charset="0"/>
              </a:rPr>
              <a:t>NAME : SUJAL SAHU, SHUBHAM CHOUHAN</a:t>
            </a:r>
          </a:p>
          <a:p>
            <a:pPr defTabSz="457200">
              <a:spcBef>
                <a:spcPct val="0"/>
              </a:spcBef>
            </a:pPr>
            <a:r>
              <a:rPr lang="en-US" sz="2000" dirty="0">
                <a:latin typeface="Algerian" panose="04020705040A02060702" pitchFamily="82" charset="0"/>
                <a:ea typeface="+mj-ea"/>
                <a:cs typeface="Times New Roman" panose="02020603050405020304" pitchFamily="18" charset="0"/>
              </a:rPr>
              <a:t>SISTEC RATIBAD</a:t>
            </a:r>
          </a:p>
          <a:p>
            <a:endParaRPr lang="en-IN" sz="1600" dirty="0"/>
          </a:p>
        </p:txBody>
      </p:sp>
      <p:sp>
        <p:nvSpPr>
          <p:cNvPr id="5" name="Title 1">
            <a:extLst>
              <a:ext uri="{FF2B5EF4-FFF2-40B4-BE49-F238E27FC236}">
                <a16:creationId xmlns:a16="http://schemas.microsoft.com/office/drawing/2014/main" id="{CD2AA1DC-6695-9DA9-76FC-0B339BFF917A}"/>
              </a:ext>
            </a:extLst>
          </p:cNvPr>
          <p:cNvSpPr txBox="1">
            <a:spLocks/>
          </p:cNvSpPr>
          <p:nvPr/>
        </p:nvSpPr>
        <p:spPr>
          <a:xfrm>
            <a:off x="192498" y="1455576"/>
            <a:ext cx="10811552" cy="490330"/>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smtClean="0">
                <a:solidFill>
                  <a:schemeClr val="tx1"/>
                </a:solidFill>
                <a:latin typeface="Algerian" panose="04020705040A02060702" pitchFamily="82" charset="0"/>
                <a:cs typeface="Times New Roman" panose="02020603050405020304" pitchFamily="18" charset="0"/>
              </a:rPr>
              <a:t>Project idea : Fake news detection system (             )</a:t>
            </a:r>
            <a:endParaRPr lang="en-IN" sz="2800" dirty="0">
              <a:solidFill>
                <a:schemeClr val="tx1"/>
              </a:solidFill>
              <a:latin typeface="Algerian" panose="04020705040A02060702" pitchFamily="82" charset="0"/>
              <a:cs typeface="Times New Roman" panose="02020603050405020304" pitchFamily="18"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4383" y="4551838"/>
            <a:ext cx="2620108" cy="1970941"/>
          </a:xfrm>
          <a:prstGeom prst="rect">
            <a:avLst/>
          </a:prstGeom>
          <a:ln>
            <a:noFill/>
          </a:ln>
          <a:effectLst>
            <a:softEdge rad="112500"/>
          </a:effec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79368" y="4551839"/>
            <a:ext cx="2427610" cy="1970940"/>
          </a:xfrm>
          <a:prstGeom prst="rect">
            <a:avLst/>
          </a:prstGeom>
          <a:ln>
            <a:noFill/>
          </a:ln>
          <a:effectLst>
            <a:softEdge rad="112500"/>
          </a:effectLst>
        </p:spPr>
      </p:pic>
      <p:pic>
        <p:nvPicPr>
          <p:cNvPr id="7" name="Picture 6"/>
          <p:cNvPicPr>
            <a:picLocks noChangeAspect="1"/>
          </p:cNvPicPr>
          <p:nvPr/>
        </p:nvPicPr>
        <p:blipFill>
          <a:blip r:embed="rId4"/>
          <a:stretch>
            <a:fillRect/>
          </a:stretch>
        </p:blipFill>
        <p:spPr>
          <a:xfrm>
            <a:off x="8449409" y="1534878"/>
            <a:ext cx="1081062" cy="325315"/>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84862" y="4551839"/>
            <a:ext cx="2902144" cy="1970939"/>
          </a:xfrm>
          <a:prstGeom prst="rect">
            <a:avLst/>
          </a:prstGeom>
          <a:ln>
            <a:noFill/>
          </a:ln>
          <a:effectLst>
            <a:softEdge rad="112500"/>
          </a:effectLst>
        </p:spPr>
      </p:pic>
      <p:pic>
        <p:nvPicPr>
          <p:cNvPr id="12" name="Picture 11"/>
          <p:cNvPicPr>
            <a:picLocks noChangeAspect="1"/>
          </p:cNvPicPr>
          <p:nvPr/>
        </p:nvPicPr>
        <p:blipFill>
          <a:blip r:embed="rId6"/>
          <a:stretch>
            <a:fillRect/>
          </a:stretch>
        </p:blipFill>
        <p:spPr>
          <a:xfrm>
            <a:off x="6137031" y="4551837"/>
            <a:ext cx="2514600" cy="1970941"/>
          </a:xfrm>
          <a:prstGeom prst="rect">
            <a:avLst/>
          </a:prstGeom>
          <a:ln>
            <a:noFill/>
          </a:ln>
          <a:effectLst>
            <a:softEdge rad="112500"/>
          </a:effectLst>
        </p:spPr>
      </p:pic>
    </p:spTree>
    <p:extLst>
      <p:ext uri="{BB962C8B-B14F-4D97-AF65-F5344CB8AC3E}">
        <p14:creationId xmlns:p14="http://schemas.microsoft.com/office/powerpoint/2010/main" val="42388811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DD95E-3FEE-2772-D8BA-CCB591177768}"/>
              </a:ext>
            </a:extLst>
          </p:cNvPr>
          <p:cNvSpPr>
            <a:spLocks noGrp="1"/>
          </p:cNvSpPr>
          <p:nvPr>
            <p:ph type="title"/>
          </p:nvPr>
        </p:nvSpPr>
        <p:spPr>
          <a:xfrm>
            <a:off x="646111" y="182131"/>
            <a:ext cx="9404723" cy="816245"/>
          </a:xfrm>
        </p:spPr>
        <p:txBody>
          <a:bodyPr/>
          <a:lstStyle/>
          <a:p>
            <a:pPr algn="just"/>
            <a:r>
              <a:rPr lang="en-US" sz="4800" dirty="0">
                <a:solidFill>
                  <a:schemeClr val="tx1"/>
                </a:solidFill>
                <a:latin typeface="Times New Roman" panose="02020603050405020304" pitchFamily="18" charset="0"/>
                <a:cs typeface="Times New Roman" panose="02020603050405020304" pitchFamily="18" charset="0"/>
              </a:rPr>
              <a:t>INDEX</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6FF77C-D629-B608-8002-142A448D301C}"/>
              </a:ext>
            </a:extLst>
          </p:cNvPr>
          <p:cNvSpPr>
            <a:spLocks noGrp="1"/>
          </p:cNvSpPr>
          <p:nvPr>
            <p:ph idx="1"/>
          </p:nvPr>
        </p:nvSpPr>
        <p:spPr>
          <a:xfrm>
            <a:off x="646111" y="1726348"/>
            <a:ext cx="8946541" cy="3517458"/>
          </a:xfrm>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ABSTRACT</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INTRODUCTION</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LITERATURE SURVEY</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EXISTING SYSTEM</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PROPOSED SYSTEM</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RESULT ANALYSIS AND DISCUSSION</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CONCLUSION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FUTURE ENHANCEMENTS</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5913493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417A9-09FC-4DC2-C393-F7134D7070F7}"/>
              </a:ext>
            </a:extLst>
          </p:cNvPr>
          <p:cNvSpPr>
            <a:spLocks noGrp="1"/>
          </p:cNvSpPr>
          <p:nvPr>
            <p:ph type="title"/>
          </p:nvPr>
        </p:nvSpPr>
        <p:spPr>
          <a:xfrm>
            <a:off x="657225" y="182806"/>
            <a:ext cx="9765070" cy="949912"/>
          </a:xfrm>
        </p:spPr>
        <p:txBody>
          <a:bodyPr>
            <a:normAutofit/>
          </a:bodyPr>
          <a:lstStyle/>
          <a:p>
            <a:pPr algn="just"/>
            <a:r>
              <a:rPr lang="en-US" sz="4800" dirty="0">
                <a:solidFill>
                  <a:schemeClr val="tx1"/>
                </a:solidFill>
                <a:latin typeface="Times New Roman" panose="02020603050405020304" pitchFamily="18" charset="0"/>
                <a:cs typeface="Times New Roman" panose="02020603050405020304" pitchFamily="18" charset="0"/>
              </a:rPr>
              <a:t>ABSTRACT</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9D90FE-17D8-FE00-85E2-769E41A3A90E}"/>
              </a:ext>
            </a:extLst>
          </p:cNvPr>
          <p:cNvSpPr>
            <a:spLocks noGrp="1"/>
          </p:cNvSpPr>
          <p:nvPr>
            <p:ph idx="1"/>
          </p:nvPr>
        </p:nvSpPr>
        <p:spPr>
          <a:xfrm>
            <a:off x="657225" y="1876871"/>
            <a:ext cx="11079332" cy="3192085"/>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The proliferation of online misinformation and fake news poses a serious threat to social order, democratic institutions, and public trust. This project presents TruthScan, a comprehensive machine learning and Natural Language Processing (NLP) system designed to detect and classify news articles as real or fake in real-time. Using a combined dataset of 44,898 articles from the ISOT dataset, the system applies robust text preprocessing (cleaning, tokenization, stop word removal, and lemmatization) and extracts linguistic features using TF-IDF vectorization with n-gram analysis. Two machine learning classifiers—Logistic Regression and Multinomial Naive Bayes—are evaluated, with Logistic Regression achieving an outstanding 99.44% accuracy and F1-score. To make predictions robust, a hybrid heuristic layer integrates keyword checking for sensationalized clickbait or scientific evidence. The backend is built using Flask with a dual SQLite and KVDB storage system for history persistence on serverless architectures, and the frontend is an engaging, dark-themed responsive UI with glassmorphism styling and real-time visualization dashboards. The system is deployed seamlessly using Vercel.</a:t>
            </a:r>
            <a:endParaRPr lang="en-IN" sz="1800" dirty="0">
              <a:latin typeface="Times New Roman" panose="02020603050405020304" pitchFamily="18" charset="0"/>
              <a:cs typeface="Times New Roman" panose="02020603050405020304" pitchFamily="18" charset="0"/>
            </a:endParaRPr>
          </a:p>
          <a:p>
            <a:pPr marL="0" indent="0" algn="just">
              <a:buNone/>
            </a:pPr>
            <a:endParaRPr lang="en-IN" sz="105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042695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95BCB-FCE7-3001-0F31-6A4758263071}"/>
              </a:ext>
            </a:extLst>
          </p:cNvPr>
          <p:cNvSpPr>
            <a:spLocks noGrp="1"/>
          </p:cNvSpPr>
          <p:nvPr>
            <p:ph type="title"/>
          </p:nvPr>
        </p:nvSpPr>
        <p:spPr>
          <a:xfrm>
            <a:off x="657225" y="123834"/>
            <a:ext cx="9774400" cy="1038687"/>
          </a:xfrm>
        </p:spPr>
        <p:txBody>
          <a:bodyPr>
            <a:normAutofit/>
          </a:bodyPr>
          <a:lstStyle/>
          <a:p>
            <a:r>
              <a:rPr lang="en-US" sz="4800" dirty="0">
                <a:solidFill>
                  <a:schemeClr val="tx1"/>
                </a:solidFill>
                <a:latin typeface="Times New Roman" panose="02020603050405020304" pitchFamily="18" charset="0"/>
                <a:cs typeface="Times New Roman" panose="02020603050405020304" pitchFamily="18" charset="0"/>
              </a:rPr>
              <a:t>1</a:t>
            </a:r>
            <a:r>
              <a:rPr lang="en-US" sz="4800" dirty="0" smtClean="0">
                <a:solidFill>
                  <a:schemeClr val="tx1"/>
                </a:solidFill>
                <a:latin typeface="Times New Roman" panose="02020603050405020304" pitchFamily="18" charset="0"/>
                <a:cs typeface="Times New Roman" panose="02020603050405020304" pitchFamily="18" charset="0"/>
              </a:rPr>
              <a:t>. INTRODUCTION</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35DBE6-E2C8-8A56-3985-9AF36B52FC5B}"/>
              </a:ext>
            </a:extLst>
          </p:cNvPr>
          <p:cNvSpPr>
            <a:spLocks noGrp="1"/>
          </p:cNvSpPr>
          <p:nvPr>
            <p:ph idx="1"/>
          </p:nvPr>
        </p:nvSpPr>
        <p:spPr>
          <a:xfrm>
            <a:off x="657225" y="1861832"/>
            <a:ext cx="11043821" cy="4020222"/>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In the modern digital era, the Internet has revolutionized how information is created, shared, and consumed. While this has democratized knowledge, it has also facilitated the rapid spread of misinformation, rumors, and deliberately fabricated stories, widely known as 'fake news'. Fake news is typically written to mislead readers for financial gain, political advantage, or social disruption</a:t>
            </a:r>
            <a:r>
              <a:rPr lang="en-US" sz="1800" dirty="0" smtClean="0">
                <a:latin typeface="Times New Roman" panose="02020603050405020304" pitchFamily="18" charset="0"/>
                <a:cs typeface="Times New Roman" panose="02020603050405020304" pitchFamily="18" charset="0"/>
              </a:rPr>
              <a:t>.</a:t>
            </a:r>
          </a:p>
          <a:p>
            <a:pPr marL="0" indent="0" algn="just">
              <a:buNone/>
            </a:pPr>
            <a:endParaRPr lang="en-IN"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Natural Language Processing (NLP) and Machine Learning (ML) present powerful methodologies to automate the detection of misinformation. By analyzing the structural, grammatical, and lexical patterns of a text, computer algorithms can identify markers of deception that are invisible to the casual reader. This project introduces 'TruthScan', an end-to-end system that combines scientific preprocessing, statistical feature engineering, and a hybrid rule-based machine learning architecture to deliver real-time news authentication</a:t>
            </a:r>
            <a:r>
              <a:rPr lang="en-US" sz="1800" dirty="0" smtClean="0">
                <a:latin typeface="Times New Roman" panose="02020603050405020304" pitchFamily="18" charset="0"/>
                <a:cs typeface="Times New Roman" panose="02020603050405020304" pitchFamily="18" charset="0"/>
              </a:rPr>
              <a:t>.</a:t>
            </a:r>
          </a:p>
          <a:p>
            <a:pPr marL="0" indent="0" algn="just">
              <a:buNone/>
            </a:pPr>
            <a:endParaRPr lang="en-US" sz="1800" dirty="0" smtClean="0">
              <a:latin typeface="Times New Roman" panose="02020603050405020304" pitchFamily="18" charset="0"/>
              <a:cs typeface="Times New Roman" panose="02020603050405020304" pitchFamily="18" charset="0"/>
            </a:endParaRPr>
          </a:p>
          <a:p>
            <a:pPr marL="0" indent="0" algn="just">
              <a:buNone/>
            </a:pPr>
            <a:r>
              <a:rPr lang="en-US" sz="1800" dirty="0" smtClean="0">
                <a:latin typeface="Times New Roman" panose="02020603050405020304" pitchFamily="18" charset="0"/>
                <a:cs typeface="Times New Roman" panose="02020603050405020304" pitchFamily="18" charset="0"/>
              </a:rPr>
              <a:t>Link </a:t>
            </a:r>
            <a:r>
              <a:rPr 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hlinkClick r:id="rId2"/>
              </a:rPr>
              <a:t>https://fake-news-detection-system-livid.vercel.app/</a:t>
            </a:r>
            <a:endParaRPr lang="en-US" sz="1800" dirty="0" smtClean="0">
              <a:solidFill>
                <a:srgbClr val="00B0F0"/>
              </a:solidFill>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590640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2EBD2-40A2-DF2D-1D3E-35A7C87103CA}"/>
              </a:ext>
            </a:extLst>
          </p:cNvPr>
          <p:cNvSpPr>
            <a:spLocks noGrp="1"/>
          </p:cNvSpPr>
          <p:nvPr>
            <p:ph type="title"/>
          </p:nvPr>
        </p:nvSpPr>
        <p:spPr>
          <a:xfrm>
            <a:off x="646111" y="0"/>
            <a:ext cx="9404723" cy="900221"/>
          </a:xfrm>
        </p:spPr>
        <p:txBody>
          <a:bodyPr>
            <a:normAutofit/>
          </a:bodyPr>
          <a:lstStyle/>
          <a:p>
            <a:r>
              <a:rPr lang="en-US" sz="4800" dirty="0">
                <a:solidFill>
                  <a:schemeClr val="tx1"/>
                </a:solidFill>
                <a:latin typeface="Times New Roman" panose="02020603050405020304" pitchFamily="18" charset="0"/>
                <a:cs typeface="Times New Roman" panose="02020603050405020304" pitchFamily="18" charset="0"/>
              </a:rPr>
              <a:t>1.1 PROBLEM STATEMENT</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9183F6-271D-7301-B4D0-47F5B18CCD82}"/>
              </a:ext>
            </a:extLst>
          </p:cNvPr>
          <p:cNvSpPr>
            <a:spLocks noGrp="1"/>
          </p:cNvSpPr>
          <p:nvPr>
            <p:ph idx="1"/>
          </p:nvPr>
        </p:nvSpPr>
        <p:spPr>
          <a:xfrm>
            <a:off x="646111" y="1928989"/>
            <a:ext cx="11150353" cy="3030637"/>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volume of news generated on the web makes manual verification by human fact-checkers slow, costly, and logistically impossible. Consequently, fabricated stories spread exponentially before they can be corrected, causing financial panic, political manipulation, and social unrest</a:t>
            </a:r>
            <a:r>
              <a:rPr lang="en-US" sz="1800" dirty="0" smtClean="0">
                <a:latin typeface="Times New Roman" panose="02020603050405020304" pitchFamily="18" charset="0"/>
                <a:cs typeface="Times New Roman" panose="02020603050405020304" pitchFamily="18" charset="0"/>
              </a:rPr>
              <a:t>.</a:t>
            </a:r>
          </a:p>
          <a:p>
            <a:pPr marL="0" indent="0" algn="just">
              <a:buNone/>
            </a:pPr>
            <a:endParaRPr lang="en-IN"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technical challenge lies in building a system that can process massive text corpora in real-time, accurately classify the authenticity of a text, explain its reasoning to the user (combating the 'black-box' nature of AI), and run efficiently in lightweight serverless cloud environments. Furthermore, models are highly susceptible to data bias (such as overfitting to specific news agencies), meaning preprocessing must be carefully engineered to ignore content-source clues and focus strictly on linguistic style and intent.</a:t>
            </a:r>
            <a:endParaRPr lang="en-IN" sz="1800" dirty="0">
              <a:latin typeface="Times New Roman" panose="02020603050405020304" pitchFamily="18" charset="0"/>
              <a:cs typeface="Times New Roman" panose="02020603050405020304" pitchFamily="18" charset="0"/>
            </a:endParaRPr>
          </a:p>
          <a:p>
            <a:pPr marL="0" indent="0" algn="just">
              <a:lnSpc>
                <a:spcPct val="150000"/>
              </a:lnSpc>
              <a:spcAft>
                <a:spcPts val="800"/>
              </a:spcAft>
              <a:buNone/>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292716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73C1-6C22-4473-A604-2BCF1D9814FE}"/>
              </a:ext>
            </a:extLst>
          </p:cNvPr>
          <p:cNvSpPr>
            <a:spLocks noGrp="1"/>
          </p:cNvSpPr>
          <p:nvPr>
            <p:ph type="title"/>
          </p:nvPr>
        </p:nvSpPr>
        <p:spPr>
          <a:xfrm>
            <a:off x="646111" y="0"/>
            <a:ext cx="4998909" cy="872412"/>
          </a:xfrm>
        </p:spPr>
        <p:txBody>
          <a:bodyPr>
            <a:normAutofit/>
          </a:bodyPr>
          <a:lstStyle/>
          <a:p>
            <a:pPr algn="just"/>
            <a:r>
              <a:rPr lang="en-US" sz="4800" dirty="0">
                <a:solidFill>
                  <a:schemeClr val="tx1"/>
                </a:solidFill>
                <a:latin typeface="Times New Roman" panose="02020603050405020304" pitchFamily="18" charset="0"/>
                <a:cs typeface="Times New Roman" panose="02020603050405020304" pitchFamily="18" charset="0"/>
              </a:rPr>
              <a:t>1.2 OBJECTIVES</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337BBC0F-2328-B201-AD79-E99A07A57493}"/>
              </a:ext>
            </a:extLst>
          </p:cNvPr>
          <p:cNvSpPr>
            <a:spLocks noGrp="1"/>
          </p:cNvSpPr>
          <p:nvPr>
            <p:ph idx="1"/>
          </p:nvPr>
        </p:nvSpPr>
        <p:spPr>
          <a:xfrm>
            <a:off x="646111" y="1166691"/>
            <a:ext cx="11381048" cy="5570011"/>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The key objectives of this project are:</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develop an NLP text preprocessing pipeline using NLTK that performs data cleaning, tokenization, stop word removal, and lemmatization to extract pure semantic text.</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extract term-frequency features using TF-IDF vectorization with bi-grams and tri-grams to capture contextual relationships between words.</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train and optimize classification models (Logistic Regression and Naive Bayes) using GridSearchCV, achieving a target classification accuracy of over 99%.</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implement a Hybrid Heuristic layer that uses domain-specific keyword vocabularies (e.g., clickbait triggers vs. scientific indicators) to refine model predictions and confidence ratings.</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design an Explainable AI (XAI) engine that extracts model coefficients to explain why an article was classified as real or fake.</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build a responsive Flask-based web application featuring interactive charts, skeleton loading animations, circular confidence rings, and dark/light modes.</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implement a dual-history database using SQLite (local persistence) and KVDB REST API (stateless serverless persistence) for tracking query histories.</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deploy the entire application to production as a serverless application on Vercel.</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815361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1D414-D990-B9D5-6667-40F78159C6DC}"/>
              </a:ext>
            </a:extLst>
          </p:cNvPr>
          <p:cNvSpPr>
            <a:spLocks noGrp="1"/>
          </p:cNvSpPr>
          <p:nvPr>
            <p:ph type="title"/>
          </p:nvPr>
        </p:nvSpPr>
        <p:spPr>
          <a:xfrm>
            <a:off x="721422" y="0"/>
            <a:ext cx="5381464" cy="741600"/>
          </a:xfrm>
        </p:spPr>
        <p:txBody>
          <a:bodyPr>
            <a:noAutofit/>
          </a:bodyPr>
          <a:lstStyle/>
          <a:p>
            <a:r>
              <a:rPr lang="en-US" sz="4800" dirty="0">
                <a:solidFill>
                  <a:schemeClr val="tx1"/>
                </a:solidFill>
                <a:latin typeface="Times New Roman" panose="02020603050405020304" pitchFamily="18" charset="0"/>
                <a:cs typeface="Times New Roman" panose="02020603050405020304" pitchFamily="18" charset="0"/>
              </a:rPr>
              <a:t>1.3 CHALLENGES</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3143A5-D0F8-A109-5D9E-393AA3C566EA}"/>
              </a:ext>
            </a:extLst>
          </p:cNvPr>
          <p:cNvSpPr>
            <a:spLocks noGrp="1"/>
          </p:cNvSpPr>
          <p:nvPr>
            <p:ph idx="1"/>
          </p:nvPr>
        </p:nvSpPr>
        <p:spPr>
          <a:xfrm>
            <a:off x="721422" y="1470991"/>
            <a:ext cx="11052699" cy="5387009"/>
          </a:xfrm>
        </p:spPr>
        <p:txBody>
          <a:bodyPr>
            <a:noAutofit/>
          </a:bodyPr>
          <a:lstStyle/>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Source </a:t>
            </a:r>
            <a:r>
              <a:rPr lang="en-US" sz="1800" dirty="0">
                <a:latin typeface="Times New Roman" panose="02020603050405020304" pitchFamily="18" charset="0"/>
                <a:cs typeface="Times New Roman" panose="02020603050405020304" pitchFamily="18" charset="0"/>
              </a:rPr>
              <a:t>Attribution Bias: The training dataset contains clear source signatures (e.g., 'Reuters' in real news). </a:t>
            </a:r>
            <a:r>
              <a:rPr lang="en-US" sz="1800" dirty="0" smtClean="0">
                <a:latin typeface="Times New Roman" panose="02020603050405020304" pitchFamily="18" charset="0"/>
                <a:cs typeface="Times New Roman" panose="02020603050405020304" pitchFamily="18" charset="0"/>
              </a:rPr>
              <a:t>If </a:t>
            </a:r>
            <a:r>
              <a:rPr lang="en-US" sz="1800" dirty="0">
                <a:latin typeface="Times New Roman" panose="02020603050405020304" pitchFamily="18" charset="0"/>
                <a:cs typeface="Times New Roman" panose="02020603050405020304" pitchFamily="18" charset="0"/>
              </a:rPr>
              <a:t>unaddressed, the machine learning models simply learn to recognize the word 'Reuters' as 'real', failing on other real articles. The text preprocessor must remove all agency names, dates, and geographic prefixes using regular expressions</a:t>
            </a:r>
            <a:r>
              <a:rPr lang="en-US" sz="1800" dirty="0" smtClean="0">
                <a:latin typeface="Times New Roman" panose="02020603050405020304" pitchFamily="18" charset="0"/>
                <a:cs typeface="Times New Roman" panose="02020603050405020304" pitchFamily="18" charset="0"/>
              </a:rPr>
              <a:t>.</a:t>
            </a:r>
          </a:p>
          <a:p>
            <a:pPr marL="0" indent="0">
              <a:buNone/>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Explainability </a:t>
            </a:r>
            <a:r>
              <a:rPr lang="en-US" sz="1800" dirty="0">
                <a:latin typeface="Times New Roman" panose="02020603050405020304" pitchFamily="18" charset="0"/>
                <a:cs typeface="Times New Roman" panose="02020603050405020304" pitchFamily="18" charset="0"/>
              </a:rPr>
              <a:t>of ML Decisions: Standard statistical classifiers (like Logistic Regression) output a probability score but do not explain *why* a classification was made. This project overcomes this by mapping </a:t>
            </a:r>
            <a:r>
              <a:rPr lang="en-US" sz="1800" dirty="0" smtClean="0">
                <a:latin typeface="Times New Roman" panose="02020603050405020304" pitchFamily="18" charset="0"/>
                <a:cs typeface="Times New Roman" panose="02020603050405020304" pitchFamily="18" charset="0"/>
              </a:rPr>
              <a:t>TF-IDF feature </a:t>
            </a:r>
            <a:r>
              <a:rPr lang="en-US" sz="1800" dirty="0">
                <a:latin typeface="Times New Roman" panose="02020603050405020304" pitchFamily="18" charset="0"/>
                <a:cs typeface="Times New Roman" panose="02020603050405020304" pitchFamily="18" charset="0"/>
              </a:rPr>
              <a:t>coefficients back to the input text to show which words had the most positive (real) or negative (fake) influence</a:t>
            </a:r>
            <a:r>
              <a:rPr lang="en-US" sz="1800" dirty="0" smtClean="0">
                <a:latin typeface="Times New Roman" panose="02020603050405020304" pitchFamily="18" charset="0"/>
                <a:cs typeface="Times New Roman" panose="02020603050405020304" pitchFamily="18" charset="0"/>
              </a:rPr>
              <a:t>.</a:t>
            </a:r>
          </a:p>
          <a:p>
            <a:pPr marL="0" indent="0">
              <a:buNone/>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Ephemeral </a:t>
            </a:r>
            <a:r>
              <a:rPr lang="en-US" sz="1800" dirty="0">
                <a:latin typeface="Times New Roman" panose="02020603050405020304" pitchFamily="18" charset="0"/>
                <a:cs typeface="Times New Roman" panose="02020603050405020304" pitchFamily="18" charset="0"/>
              </a:rPr>
              <a:t>Serverless Deployment: Hosting a Flask application with an SQLite database on Vercel is challenging because the serverless environment is stateless and has a read-only </a:t>
            </a:r>
            <a:r>
              <a:rPr lang="en-US" sz="1800" dirty="0" smtClean="0">
                <a:latin typeface="Times New Roman" panose="02020603050405020304" pitchFamily="18" charset="0"/>
                <a:cs typeface="Times New Roman" panose="02020603050405020304" pitchFamily="18" charset="0"/>
              </a:rPr>
              <a:t>file system</a:t>
            </a:r>
            <a:r>
              <a:rPr lang="en-US" sz="1800" dirty="0">
                <a:latin typeface="Times New Roman" panose="02020603050405020304" pitchFamily="18" charset="0"/>
                <a:cs typeface="Times New Roman" panose="02020603050405020304" pitchFamily="18" charset="0"/>
              </a:rPr>
              <a:t>. A dual database architecture using SQLite (for local runs) and a cloud-based KVDB REST API was engineered to sync prediction logs across serverless function instances.</a:t>
            </a: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800" dirty="0" smtClean="0"/>
          </a:p>
        </p:txBody>
      </p:sp>
    </p:spTree>
    <p:extLst>
      <p:ext uri="{BB962C8B-B14F-4D97-AF65-F5344CB8AC3E}">
        <p14:creationId xmlns:p14="http://schemas.microsoft.com/office/powerpoint/2010/main" val="17429298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80105-22BA-B72D-F471-1365EE38C6DE}"/>
              </a:ext>
            </a:extLst>
          </p:cNvPr>
          <p:cNvSpPr>
            <a:spLocks noGrp="1"/>
          </p:cNvSpPr>
          <p:nvPr>
            <p:ph type="title"/>
          </p:nvPr>
        </p:nvSpPr>
        <p:spPr>
          <a:xfrm>
            <a:off x="850529" y="0"/>
            <a:ext cx="6337085" cy="769006"/>
          </a:xfrm>
        </p:spPr>
        <p:txBody>
          <a:bodyPr>
            <a:normAutofit fontScale="90000"/>
          </a:bodyPr>
          <a:lstStyle/>
          <a:p>
            <a:r>
              <a:rPr lang="en-US" sz="4800" dirty="0">
                <a:solidFill>
                  <a:schemeClr val="tx1"/>
                </a:solidFill>
                <a:latin typeface="Times New Roman" panose="02020603050405020304" pitchFamily="18" charset="0"/>
                <a:cs typeface="Times New Roman" panose="02020603050405020304" pitchFamily="18" charset="0"/>
              </a:rPr>
              <a:t>2</a:t>
            </a:r>
            <a:r>
              <a:rPr lang="en-US" sz="4800" dirty="0" smtClean="0">
                <a:solidFill>
                  <a:schemeClr val="tx1"/>
                </a:solidFill>
                <a:latin typeface="Times New Roman" panose="02020603050405020304" pitchFamily="18" charset="0"/>
                <a:cs typeface="Times New Roman" panose="02020603050405020304" pitchFamily="18" charset="0"/>
              </a:rPr>
              <a:t>. LITERATURE </a:t>
            </a:r>
            <a:r>
              <a:rPr lang="en-US" sz="4800" dirty="0">
                <a:solidFill>
                  <a:schemeClr val="tx1"/>
                </a:solidFill>
                <a:latin typeface="Times New Roman" panose="02020603050405020304" pitchFamily="18" charset="0"/>
                <a:cs typeface="Times New Roman" panose="02020603050405020304" pitchFamily="18" charset="0"/>
              </a:rPr>
              <a:t>SURVEY</a:t>
            </a:r>
            <a:endParaRPr lang="en-IN" sz="4800" dirty="0">
              <a:solidFill>
                <a:schemeClr val="tx1"/>
              </a:solidFill>
              <a:latin typeface="Times New Roman" panose="02020603050405020304" pitchFamily="18" charset="0"/>
              <a:cs typeface="Times New Roman" panose="02020603050405020304" pitchFamily="18" charset="0"/>
            </a:endParaRP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362843850"/>
              </p:ext>
            </p:extLst>
          </p:nvPr>
        </p:nvGraphicFramePr>
        <p:xfrm>
          <a:off x="-1" y="1156996"/>
          <a:ext cx="12192001" cy="5701004"/>
        </p:xfrm>
        <a:graphic>
          <a:graphicData uri="http://schemas.openxmlformats.org/drawingml/2006/table">
            <a:tbl>
              <a:tblPr firstRow="1" firstCol="1" bandRow="1">
                <a:tableStyleId>{5940675A-B579-460E-94D1-54222C63F5DA}</a:tableStyleId>
              </a:tblPr>
              <a:tblGrid>
                <a:gridCol w="1457731">
                  <a:extLst>
                    <a:ext uri="{9D8B030D-6E8A-4147-A177-3AD203B41FA5}">
                      <a16:colId xmlns:a16="http://schemas.microsoft.com/office/drawing/2014/main" val="2834134581"/>
                    </a:ext>
                  </a:extLst>
                </a:gridCol>
                <a:gridCol w="2560561">
                  <a:extLst>
                    <a:ext uri="{9D8B030D-6E8A-4147-A177-3AD203B41FA5}">
                      <a16:colId xmlns:a16="http://schemas.microsoft.com/office/drawing/2014/main" val="3408312940"/>
                    </a:ext>
                  </a:extLst>
                </a:gridCol>
                <a:gridCol w="2077709">
                  <a:extLst>
                    <a:ext uri="{9D8B030D-6E8A-4147-A177-3AD203B41FA5}">
                      <a16:colId xmlns:a16="http://schemas.microsoft.com/office/drawing/2014/main" val="4265258201"/>
                    </a:ext>
                  </a:extLst>
                </a:gridCol>
                <a:gridCol w="2032000">
                  <a:extLst>
                    <a:ext uri="{9D8B030D-6E8A-4147-A177-3AD203B41FA5}">
                      <a16:colId xmlns:a16="http://schemas.microsoft.com/office/drawing/2014/main" val="2731200058"/>
                    </a:ext>
                  </a:extLst>
                </a:gridCol>
                <a:gridCol w="2032000">
                  <a:extLst>
                    <a:ext uri="{9D8B030D-6E8A-4147-A177-3AD203B41FA5}">
                      <a16:colId xmlns:a16="http://schemas.microsoft.com/office/drawing/2014/main" val="2167644332"/>
                    </a:ext>
                  </a:extLst>
                </a:gridCol>
                <a:gridCol w="2032000">
                  <a:extLst>
                    <a:ext uri="{9D8B030D-6E8A-4147-A177-3AD203B41FA5}">
                      <a16:colId xmlns:a16="http://schemas.microsoft.com/office/drawing/2014/main" val="216872949"/>
                    </a:ext>
                  </a:extLst>
                </a:gridCol>
              </a:tblGrid>
              <a:tr h="412430">
                <a:tc>
                  <a:txBody>
                    <a:bodyPr/>
                    <a:lstStyle/>
                    <a:p>
                      <a:pPr marL="0" marR="0" algn="ctr">
                        <a:lnSpc>
                          <a:spcPct val="115000"/>
                        </a:lnSpc>
                        <a:spcBef>
                          <a:spcPts val="0"/>
                        </a:spcBef>
                        <a:spcAft>
                          <a:spcPts val="1000"/>
                        </a:spcAft>
                      </a:pPr>
                      <a:r>
                        <a:rPr lang="en-US" sz="1100" dirty="0" smtClean="0">
                          <a:effectLst/>
                          <a:latin typeface="Times New Roman" panose="02020603050405020304" pitchFamily="18" charset="0"/>
                          <a:cs typeface="Times New Roman" panose="02020603050405020304" pitchFamily="18" charset="0"/>
                        </a:rPr>
                        <a:t>S.NO.</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gn="ctr">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TITLE OF PAPER</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gn="ctr">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AUTHOR NAME</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gn="ctr">
                        <a:lnSpc>
                          <a:spcPct val="115000"/>
                        </a:lnSpc>
                        <a:spcBef>
                          <a:spcPts val="0"/>
                        </a:spcBef>
                        <a:spcAft>
                          <a:spcPts val="1000"/>
                        </a:spcAft>
                      </a:pPr>
                      <a:r>
                        <a:rPr lang="en-US" sz="1100" dirty="0" smtClean="0">
                          <a:effectLst/>
                          <a:latin typeface="Times New Roman" panose="02020603050405020304" pitchFamily="18" charset="0"/>
                          <a:cs typeface="Times New Roman" panose="02020603050405020304" pitchFamily="18" charset="0"/>
                        </a:rPr>
                        <a:t>METHOD</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gn="ctr">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ADVANTAGES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gn="ctr">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DISADVANTAGES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extLst>
                  <a:ext uri="{0D108BD9-81ED-4DB2-BD59-A6C34878D82A}">
                    <a16:rowId xmlns:a16="http://schemas.microsoft.com/office/drawing/2014/main" val="755583375"/>
                  </a:ext>
                </a:extLst>
              </a:tr>
              <a:tr h="1198282">
                <a:tc>
                  <a:txBody>
                    <a:bodyPr/>
                    <a:lstStyle/>
                    <a:p>
                      <a:pPr marL="0" marR="0" algn="ctr">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1</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A Comparison of Sparsity Methods for Fake News Detection</a:t>
                      </a:r>
                      <a:br>
                        <a:rPr lang="en-US" sz="1100" dirty="0">
                          <a:effectLst/>
                          <a:latin typeface="Times New Roman" panose="02020603050405020304" pitchFamily="18" charset="0"/>
                          <a:cs typeface="Times New Roman" panose="02020603050405020304" pitchFamily="18" charset="0"/>
                        </a:rPr>
                      </a:br>
                      <a:r>
                        <a:rPr lang="en-US" sz="1100" dirty="0">
                          <a:effectLst/>
                          <a:latin typeface="Times New Roman" panose="02020603050405020304" pitchFamily="18" charset="0"/>
                          <a:cs typeface="Times New Roman" panose="02020603050405020304" pitchFamily="18" charset="0"/>
                        </a:rPr>
                        <a:t>(Springer Journal, 2017)</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H. Ahmed et al. ,</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Term Frequency-Inverse Document Frequency (TF-IDF) feature engineering with Support Vector Machine (SVM) and Logistic Regression classifiers.</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Highly accurate (up to 92%) on massive text datasets with very low computational overhead.</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Requires heavy text preprocessing and fails to capture deep semantic meanings or sarcasm in context.</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extLst>
                  <a:ext uri="{0D108BD9-81ED-4DB2-BD59-A6C34878D82A}">
                    <a16:rowId xmlns:a16="http://schemas.microsoft.com/office/drawing/2014/main" val="1700490058"/>
                  </a:ext>
                </a:extLst>
              </a:tr>
              <a:tr h="876146">
                <a:tc>
                  <a:txBody>
                    <a:bodyPr/>
                    <a:lstStyle/>
                    <a:p>
                      <a:pPr marL="0" marR="0" algn="ctr">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2</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The Spread of True and False News Online</a:t>
                      </a:r>
                      <a:br>
                        <a:rPr lang="en-US" sz="1100">
                          <a:effectLst/>
                          <a:latin typeface="Times New Roman" panose="02020603050405020304" pitchFamily="18" charset="0"/>
                          <a:cs typeface="Times New Roman" panose="02020603050405020304" pitchFamily="18" charset="0"/>
                        </a:rPr>
                      </a:br>
                      <a:r>
                        <a:rPr lang="en-US" sz="1100">
                          <a:effectLst/>
                          <a:latin typeface="Times New Roman" panose="02020603050405020304" pitchFamily="18" charset="0"/>
                          <a:cs typeface="Times New Roman" panose="02020603050405020304" pitchFamily="18" charset="0"/>
                        </a:rPr>
                        <a:t>(Science Journal, 2018)</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S. Vosoughi et al. ,</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Rumor cascade propagation analysis across social networks using rumor diffusion models.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Provides deep empirical analysis on the rapid spread velocity of misinformation (6x faster than truth).</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Focuses strictly on propagation metrics rather than semantic/linguistic contents of the news texts.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extLst>
                  <a:ext uri="{0D108BD9-81ED-4DB2-BD59-A6C34878D82A}">
                    <a16:rowId xmlns:a16="http://schemas.microsoft.com/office/drawing/2014/main" val="3234573002"/>
                  </a:ext>
                </a:extLst>
              </a:tr>
              <a:tr h="1007932">
                <a:tc>
                  <a:txBody>
                    <a:bodyPr/>
                    <a:lstStyle/>
                    <a:p>
                      <a:pPr marL="0" marR="0" algn="ctr">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3</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Fake News Classification Using Gated Recurrent Unit (GRU) and Long Short-Term Memory (LSTM)</a:t>
                      </a:r>
                      <a:br>
                        <a:rPr lang="en-US" sz="1100">
                          <a:effectLst/>
                          <a:latin typeface="Times New Roman" panose="02020603050405020304" pitchFamily="18" charset="0"/>
                          <a:cs typeface="Times New Roman" panose="02020603050405020304" pitchFamily="18" charset="0"/>
                        </a:rPr>
                      </a:br>
                      <a:r>
                        <a:rPr lang="en-US" sz="1100">
                          <a:effectLst/>
                          <a:latin typeface="Times New Roman" panose="02020603050405020304" pitchFamily="18" charset="0"/>
                          <a:cs typeface="Times New Roman" panose="02020603050405020304" pitchFamily="18" charset="0"/>
                        </a:rPr>
                        <a:t>(IEEE Journal, 2022)</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S. Choudhary et al. ,</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The Gated Recurrent Unit (GRU) and LSTM (Long Short Term Memory) networks with word embeddings.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Effectively captures sequential text dynamics, word ordering, and long-term dependencies within news stories.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Extremely high training and computational time, high computational resource footprint, and high inference latency.</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extLst>
                  <a:ext uri="{0D108BD9-81ED-4DB2-BD59-A6C34878D82A}">
                    <a16:rowId xmlns:a16="http://schemas.microsoft.com/office/drawing/2014/main" val="1037799102"/>
                  </a:ext>
                </a:extLst>
              </a:tr>
              <a:tr h="1007932">
                <a:tc>
                  <a:txBody>
                    <a:bodyPr/>
                    <a:lstStyle/>
                    <a:p>
                      <a:pPr marL="0" marR="0" algn="ctr">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4</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Detection of Online Fake News Using N-Gram Analysis and Machine Learning Algorithms</a:t>
                      </a:r>
                      <a:br>
                        <a:rPr lang="en-US" sz="1100">
                          <a:effectLst/>
                          <a:latin typeface="Times New Roman" panose="02020603050405020304" pitchFamily="18" charset="0"/>
                          <a:cs typeface="Times New Roman" panose="02020603050405020304" pitchFamily="18" charset="0"/>
                        </a:rPr>
                      </a:br>
                      <a:r>
                        <a:rPr lang="en-US" sz="1100">
                          <a:effectLst/>
                          <a:latin typeface="Times New Roman" panose="02020603050405020304" pitchFamily="18" charset="0"/>
                          <a:cs typeface="Times New Roman" panose="02020603050405020304" pitchFamily="18" charset="0"/>
                        </a:rPr>
                        <a:t>(IEEE Journal, 2020)</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U. Sharma et al. ,</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Linguistic feature representations using TF-IDF n-grams (Unigrams, Bigrams, Trigrams) and optimized classifiers.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Captures short contextual phrases, is exceptionally fast, and achieves over 95% accuracy on standard benchmarks.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Relies strictly on presence of terms, easily bypassed by smart word rephrasing or synonym replacements.</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extLst>
                  <a:ext uri="{0D108BD9-81ED-4DB2-BD59-A6C34878D82A}">
                    <a16:rowId xmlns:a16="http://schemas.microsoft.com/office/drawing/2014/main" val="4090115114"/>
                  </a:ext>
                </a:extLst>
              </a:tr>
              <a:tr h="1198282">
                <a:tc>
                  <a:txBody>
                    <a:bodyPr/>
                    <a:lstStyle/>
                    <a:p>
                      <a:pPr marL="0" marR="0" algn="ctr">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5</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Deep Learning for Fake News Detection: A BERT-based Transformer Approach</a:t>
                      </a:r>
                      <a:br>
                        <a:rPr lang="en-US" sz="1100">
                          <a:effectLst/>
                          <a:latin typeface="Times New Roman" panose="02020603050405020304" pitchFamily="18" charset="0"/>
                          <a:cs typeface="Times New Roman" panose="02020603050405020304" pitchFamily="18" charset="0"/>
                        </a:rPr>
                      </a:br>
                      <a:r>
                        <a:rPr lang="en-US" sz="1100">
                          <a:effectLst/>
                          <a:latin typeface="Times New Roman" panose="02020603050405020304" pitchFamily="18" charset="0"/>
                          <a:cs typeface="Times New Roman" panose="02020603050405020304" pitchFamily="18" charset="0"/>
                        </a:rPr>
                        <a:t>(IEEE Access, 2021)</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M. </a:t>
                      </a:r>
                      <a:r>
                        <a:rPr lang="en-US" sz="1100" dirty="0" err="1">
                          <a:effectLst/>
                          <a:latin typeface="Times New Roman" panose="02020603050405020304" pitchFamily="18" charset="0"/>
                          <a:cs typeface="Times New Roman" panose="02020603050405020304" pitchFamily="18" charset="0"/>
                        </a:rPr>
                        <a:t>Umer</a:t>
                      </a:r>
                      <a:r>
                        <a:rPr lang="en-US" sz="1100" dirty="0">
                          <a:effectLst/>
                          <a:latin typeface="Times New Roman" panose="02020603050405020304" pitchFamily="18" charset="0"/>
                          <a:cs typeface="Times New Roman" panose="02020603050405020304" pitchFamily="18" charset="0"/>
                        </a:rPr>
                        <a:t> et al. ,</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Pre-trained Transformer-based language representation model (BERT) with customized fine-tuning.</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a:effectLst/>
                          <a:latin typeface="Times New Roman" panose="02020603050405020304" pitchFamily="18" charset="0"/>
                          <a:cs typeface="Times New Roman" panose="02020603050405020304" pitchFamily="18" charset="0"/>
                        </a:rPr>
                        <a:t>Excellent understanding of bidirectional grammar, semantic context, and subtle sarcasm in news text, achieving state-of-the-art accuracy.</a:t>
                      </a:r>
                      <a:endParaRPr lang="en-IN" sz="110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tc>
                  <a:txBody>
                    <a:bodyPr/>
                    <a:lstStyle/>
                    <a:p>
                      <a:pPr marL="0" marR="0">
                        <a:lnSpc>
                          <a:spcPct val="115000"/>
                        </a:lnSpc>
                        <a:spcBef>
                          <a:spcPts val="0"/>
                        </a:spcBef>
                        <a:spcAft>
                          <a:spcPts val="1000"/>
                        </a:spcAft>
                      </a:pPr>
                      <a:r>
                        <a:rPr lang="en-US" sz="1100" dirty="0">
                          <a:effectLst/>
                          <a:latin typeface="Times New Roman" panose="02020603050405020304" pitchFamily="18" charset="0"/>
                          <a:cs typeface="Times New Roman" panose="02020603050405020304" pitchFamily="18" charset="0"/>
                        </a:rPr>
                        <a:t>Huge storage size of the trained model, massive RAM footprint, and slow performance on standard CPU servers.</a:t>
                      </a:r>
                      <a:endParaRPr lang="en-IN" sz="1100" dirty="0">
                        <a:solidFill>
                          <a:schemeClr val="bg1"/>
                        </a:solidFill>
                        <a:effectLst/>
                        <a:latin typeface="Times New Roman" panose="02020603050405020304" pitchFamily="18" charset="0"/>
                        <a:ea typeface="MS Mincho"/>
                        <a:cs typeface="Times New Roman" panose="02020603050405020304" pitchFamily="18" charset="0"/>
                      </a:endParaRPr>
                    </a:p>
                  </a:txBody>
                  <a:tcPr marL="33158" marR="33158" marT="33158" marB="33158"/>
                </a:tc>
                <a:extLst>
                  <a:ext uri="{0D108BD9-81ED-4DB2-BD59-A6C34878D82A}">
                    <a16:rowId xmlns:a16="http://schemas.microsoft.com/office/drawing/2014/main" val="4218851415"/>
                  </a:ext>
                </a:extLst>
              </a:tr>
            </a:tbl>
          </a:graphicData>
        </a:graphic>
      </p:graphicFrame>
    </p:spTree>
    <p:extLst>
      <p:ext uri="{BB962C8B-B14F-4D97-AF65-F5344CB8AC3E}">
        <p14:creationId xmlns:p14="http://schemas.microsoft.com/office/powerpoint/2010/main" val="344385853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651A5-EDEC-7DCE-EAEA-3684E10D94B2}"/>
              </a:ext>
            </a:extLst>
          </p:cNvPr>
          <p:cNvSpPr>
            <a:spLocks noGrp="1"/>
          </p:cNvSpPr>
          <p:nvPr>
            <p:ph type="title"/>
          </p:nvPr>
        </p:nvSpPr>
        <p:spPr>
          <a:xfrm>
            <a:off x="964164" y="0"/>
            <a:ext cx="6808236" cy="720099"/>
          </a:xfrm>
        </p:spPr>
        <p:txBody>
          <a:bodyPr>
            <a:noAutofit/>
          </a:bodyPr>
          <a:lstStyle/>
          <a:p>
            <a:pPr algn="just"/>
            <a:r>
              <a:rPr lang="en-US" sz="4800" dirty="0">
                <a:solidFill>
                  <a:schemeClr val="tx1"/>
                </a:solidFill>
                <a:latin typeface="Times New Roman" panose="02020603050405020304" pitchFamily="18" charset="0"/>
                <a:cs typeface="Times New Roman" panose="02020603050405020304" pitchFamily="18" charset="0"/>
              </a:rPr>
              <a:t>2.1 GAPS IN RESEARCH</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73B0C2-82B0-3A47-849F-2517E82B8BD0}"/>
              </a:ext>
            </a:extLst>
          </p:cNvPr>
          <p:cNvSpPr>
            <a:spLocks noGrp="1"/>
          </p:cNvSpPr>
          <p:nvPr>
            <p:ph idx="1"/>
          </p:nvPr>
        </p:nvSpPr>
        <p:spPr>
          <a:xfrm>
            <a:off x="964164" y="1331843"/>
            <a:ext cx="10465836" cy="5526157"/>
          </a:xfrm>
        </p:spPr>
        <p:txBody>
          <a:bodyPr>
            <a:noAutofit/>
          </a:bodyPr>
          <a:lstStyle/>
          <a:p>
            <a:pPr marL="0" indent="0">
              <a:buNone/>
            </a:pPr>
            <a:r>
              <a:rPr lang="en-US" sz="1800" dirty="0" smtClean="0">
                <a:latin typeface="Times New Roman" panose="02020603050405020304" pitchFamily="18" charset="0"/>
                <a:cs typeface="Times New Roman" panose="02020603050405020304" pitchFamily="18" charset="0"/>
              </a:rPr>
              <a:t>     A </a:t>
            </a:r>
            <a:r>
              <a:rPr lang="en-US" sz="1800" dirty="0">
                <a:latin typeface="Times New Roman" panose="02020603050405020304" pitchFamily="18" charset="0"/>
                <a:cs typeface="Times New Roman" panose="02020603050405020304" pitchFamily="18" charset="0"/>
              </a:rPr>
              <a:t>critical review of the existing literature reveals several key research gaps</a:t>
            </a:r>
            <a:r>
              <a:rPr lang="en-US" sz="1800" dirty="0" smtClean="0">
                <a:latin typeface="Times New Roman" panose="02020603050405020304" pitchFamily="18" charset="0"/>
                <a:cs typeface="Times New Roman" panose="02020603050405020304" pitchFamily="18" charset="0"/>
              </a:rPr>
              <a:t>:</a:t>
            </a:r>
          </a:p>
          <a:p>
            <a:pPr marL="0" indent="0">
              <a:buNone/>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Lack </a:t>
            </a:r>
            <a:r>
              <a:rPr lang="en-US" sz="1800" dirty="0">
                <a:latin typeface="Times New Roman" panose="02020603050405020304" pitchFamily="18" charset="0"/>
                <a:cs typeface="Times New Roman" panose="02020603050405020304" pitchFamily="18" charset="0"/>
              </a:rPr>
              <a:t>of Transparency (The Black-Box Problem): Almost all existing papers focus solely on maximizing accuracy metrics, leaving the classification decision completely unexplained to the end-user. This reduces trust in AI verifiers</a:t>
            </a:r>
            <a:r>
              <a:rPr lang="en-US" sz="1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Rule-Model </a:t>
            </a:r>
            <a:r>
              <a:rPr lang="en-US" sz="1800" dirty="0">
                <a:latin typeface="Times New Roman" panose="02020603050405020304" pitchFamily="18" charset="0"/>
                <a:cs typeface="Times New Roman" panose="02020603050405020304" pitchFamily="18" charset="0"/>
              </a:rPr>
              <a:t>Disconnect: Existing systems are either purely statistical (ML) or purely rule-based. Pure ML models ignore clear heuristic flags (like clickbait words) in short texts, while pure rule-based engines fail to generalize to longer articles</a:t>
            </a:r>
            <a:r>
              <a:rPr lang="en-US" sz="1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High </a:t>
            </a:r>
            <a:r>
              <a:rPr lang="en-US" sz="1800" dirty="0">
                <a:latin typeface="Times New Roman" panose="02020603050405020304" pitchFamily="18" charset="0"/>
                <a:cs typeface="Times New Roman" panose="02020603050405020304" pitchFamily="18" charset="0"/>
              </a:rPr>
              <a:t>Computing Latency: Many modern papers leverage deep learning models (such as BERT or LSTMs). While highly accurate, these models require substantial memory, GPUs, and have high inference latencies (often &gt;1-2 seconds per article), making them unsuitable for real-time web deployment on serverless architectures.</a:t>
            </a:r>
            <a:endParaRPr lang="en-IN"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78822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EC4A-7622-6326-7813-1AAF80B9FE2B}"/>
              </a:ext>
            </a:extLst>
          </p:cNvPr>
          <p:cNvSpPr>
            <a:spLocks noGrp="1"/>
          </p:cNvSpPr>
          <p:nvPr>
            <p:ph type="title"/>
          </p:nvPr>
        </p:nvSpPr>
        <p:spPr>
          <a:xfrm>
            <a:off x="733351" y="0"/>
            <a:ext cx="6037754" cy="1008381"/>
          </a:xfrm>
        </p:spPr>
        <p:txBody>
          <a:bodyPr>
            <a:normAutofit/>
          </a:bodyPr>
          <a:lstStyle/>
          <a:p>
            <a:r>
              <a:rPr lang="en-US" sz="4800" dirty="0">
                <a:solidFill>
                  <a:schemeClr val="tx1"/>
                </a:solidFill>
                <a:latin typeface="Times New Roman" panose="02020603050405020304" pitchFamily="18" charset="0"/>
                <a:cs typeface="Times New Roman" panose="02020603050405020304" pitchFamily="18" charset="0"/>
              </a:rPr>
              <a:t>3.EXISTING SYSTEM</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9496AE-D5D4-6937-0E4E-EB04982E061C}"/>
              </a:ext>
            </a:extLst>
          </p:cNvPr>
          <p:cNvSpPr>
            <a:spLocks noGrp="1"/>
          </p:cNvSpPr>
          <p:nvPr>
            <p:ph idx="1"/>
          </p:nvPr>
        </p:nvSpPr>
        <p:spPr>
          <a:xfrm>
            <a:off x="733351" y="1351722"/>
            <a:ext cx="10753725" cy="5280909"/>
          </a:xfrm>
        </p:spPr>
        <p:txBody>
          <a:bodyPr>
            <a:normAutofit/>
          </a:bodyPr>
          <a:lstStyle/>
          <a:p>
            <a:pPr marL="0" indent="0">
              <a:buNone/>
            </a:pPr>
            <a:r>
              <a:rPr lang="en-US" sz="1800" dirty="0" smtClean="0">
                <a:latin typeface="Times New Roman" panose="02020603050405020304" pitchFamily="18" charset="0"/>
                <a:cs typeface="Times New Roman" panose="02020603050405020304" pitchFamily="18" charset="0"/>
              </a:rPr>
              <a:t>Existing </a:t>
            </a:r>
            <a:r>
              <a:rPr lang="en-US" sz="1800" dirty="0">
                <a:latin typeface="Times New Roman" panose="02020603050405020304" pitchFamily="18" charset="0"/>
                <a:cs typeface="Times New Roman" panose="02020603050405020304" pitchFamily="18" charset="0"/>
              </a:rPr>
              <a:t>systems for fake news verification primarily rely on the following approaches</a:t>
            </a:r>
            <a:r>
              <a:rPr lang="en-US" sz="1800" dirty="0" smtClean="0">
                <a:latin typeface="Times New Roman" panose="02020603050405020304" pitchFamily="18" charset="0"/>
                <a:cs typeface="Times New Roman" panose="02020603050405020304" pitchFamily="18" charset="0"/>
              </a:rPr>
              <a:t>:</a:t>
            </a:r>
          </a:p>
          <a:p>
            <a:pPr marL="0" indent="0">
              <a:buNone/>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Manual </a:t>
            </a:r>
            <a:r>
              <a:rPr lang="en-US" sz="1800" dirty="0">
                <a:latin typeface="Times New Roman" panose="02020603050405020304" pitchFamily="18" charset="0"/>
                <a:cs typeface="Times New Roman" panose="02020603050405020304" pitchFamily="18" charset="0"/>
              </a:rPr>
              <a:t>Fact-Checking Portals: Websites like Snopes, PolitiFact, and FactCheck.org employ professional journalists and researchers to investigate viral claims. While highly accurate and trusted, this manual process takes hours or days per claim. It is incapable of handling the millions of articles generated daily</a:t>
            </a:r>
            <a:r>
              <a:rPr lang="en-US" sz="1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Rule-Based </a:t>
            </a:r>
            <a:r>
              <a:rPr lang="en-US" sz="1800" dirty="0">
                <a:latin typeface="Times New Roman" panose="02020603050405020304" pitchFamily="18" charset="0"/>
                <a:cs typeface="Times New Roman" panose="02020603050405020304" pitchFamily="18" charset="0"/>
              </a:rPr>
              <a:t>Regex Engines: Some news aggregators utilize static databases of known misleading domains or clickbait word lists to flag articles. These systems are rigid, easily bypassed by minor text alterations, and incapable of analyzing semantic context or linguistic style</a:t>
            </a:r>
            <a:r>
              <a:rPr lang="en-US" sz="1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Local </a:t>
            </a:r>
            <a:r>
              <a:rPr lang="en-US" sz="1800" dirty="0">
                <a:latin typeface="Times New Roman" panose="02020603050405020304" pitchFamily="18" charset="0"/>
                <a:cs typeface="Times New Roman" panose="02020603050405020304" pitchFamily="18" charset="0"/>
              </a:rPr>
              <a:t>Command-Line ML Scripts: Several open-source projects offer basic machine learning scripts that train models locally. However, they lack interactive web interfaces, API integrations, and cloud databases, limiting their usability to technical developers running local terminals.</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389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4EA61-2E48-D757-C9DA-12A151386A05}"/>
              </a:ext>
            </a:extLst>
          </p:cNvPr>
          <p:cNvSpPr>
            <a:spLocks noGrp="1"/>
          </p:cNvSpPr>
          <p:nvPr>
            <p:ph type="title"/>
          </p:nvPr>
        </p:nvSpPr>
        <p:spPr>
          <a:xfrm>
            <a:off x="496955" y="0"/>
            <a:ext cx="6469132" cy="884583"/>
          </a:xfrm>
        </p:spPr>
        <p:txBody>
          <a:bodyPr>
            <a:normAutofit/>
          </a:bodyPr>
          <a:lstStyle/>
          <a:p>
            <a:r>
              <a:rPr lang="en-US" sz="4800" dirty="0">
                <a:solidFill>
                  <a:schemeClr val="tx1"/>
                </a:solidFill>
                <a:latin typeface="Times New Roman" panose="02020603050405020304" pitchFamily="18" charset="0"/>
                <a:cs typeface="Times New Roman" panose="02020603050405020304" pitchFamily="18" charset="0"/>
              </a:rPr>
              <a:t>4.PROPOSED SYSTEM</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4E7093-95D7-4CFB-AEE0-9B752CFC0711}"/>
              </a:ext>
            </a:extLst>
          </p:cNvPr>
          <p:cNvSpPr>
            <a:spLocks noGrp="1"/>
          </p:cNvSpPr>
          <p:nvPr>
            <p:ph idx="1"/>
          </p:nvPr>
        </p:nvSpPr>
        <p:spPr>
          <a:xfrm>
            <a:off x="288234" y="1172817"/>
            <a:ext cx="11903766" cy="5685183"/>
          </a:xfrm>
        </p:spPr>
        <p:txBody>
          <a:bodyPr>
            <a:noAutofit/>
          </a:bodyPr>
          <a:lstStyle/>
          <a:p>
            <a:pPr marL="0" indent="0">
              <a:buNone/>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proposed system, TruthScan, addresses these limitations by introducing a hybrid, high-speed, and explainable web application. It combines statistical machine learning with rule-based heuristics to provide robust, real-time news </a:t>
            </a:r>
            <a:r>
              <a:rPr lang="en-US" sz="1800" dirty="0" smtClean="0">
                <a:latin typeface="Times New Roman" panose="02020603050405020304" pitchFamily="18" charset="0"/>
                <a:cs typeface="Times New Roman" panose="02020603050405020304" pitchFamily="18" charset="0"/>
              </a:rPr>
              <a:t>analysis.</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Key </a:t>
            </a:r>
            <a:r>
              <a:rPr lang="en-US" sz="1800" dirty="0">
                <a:latin typeface="Times New Roman" panose="02020603050405020304" pitchFamily="18" charset="0"/>
                <a:cs typeface="Times New Roman" panose="02020603050405020304" pitchFamily="18" charset="0"/>
              </a:rPr>
              <a:t>highlights of TruthScan include</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A </a:t>
            </a:r>
            <a:r>
              <a:rPr lang="en-US" sz="1800" dirty="0">
                <a:latin typeface="Times New Roman" panose="02020603050405020304" pitchFamily="18" charset="0"/>
                <a:cs typeface="Times New Roman" panose="02020603050405020304" pitchFamily="18" charset="0"/>
              </a:rPr>
              <a:t>regular-expression-based text preprocessor that removes source bias, URLs, HTML tags, and non-alphabetic elements.</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An </a:t>
            </a:r>
            <a:r>
              <a:rPr lang="en-US" sz="1800" dirty="0">
                <a:latin typeface="Times New Roman" panose="02020603050405020304" pitchFamily="18" charset="0"/>
                <a:cs typeface="Times New Roman" panose="02020603050405020304" pitchFamily="18" charset="0"/>
              </a:rPr>
              <a:t>optimized TF-IDF vectorizer (max 10,000 features, 1-3 n-gram range) that converts text into numeric formats representing structural word frequencies.</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A </a:t>
            </a:r>
            <a:r>
              <a:rPr lang="en-US" sz="1800" dirty="0">
                <a:latin typeface="Times New Roman" panose="02020603050405020304" pitchFamily="18" charset="0"/>
                <a:cs typeface="Times New Roman" panose="02020603050405020304" pitchFamily="18" charset="0"/>
              </a:rPr>
              <a:t>hybrid prediction engine that runs the input through an optimized Logistic Regression model, and then adjusts probabilities based on pre-defined keyword lists (e.g., medical, scientific, and sensational terms).</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A </a:t>
            </a:r>
            <a:r>
              <a:rPr lang="en-US" sz="1800" dirty="0">
                <a:latin typeface="Times New Roman" panose="02020603050405020304" pitchFamily="18" charset="0"/>
                <a:cs typeface="Times New Roman" panose="02020603050405020304" pitchFamily="18" charset="0"/>
              </a:rPr>
              <a:t>feature coefficient mapper that retrieves the top mathematical features from the classifier to generate a clear markdown explanation for the user.</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A </a:t>
            </a:r>
            <a:r>
              <a:rPr lang="en-US" sz="1800" dirty="0">
                <a:latin typeface="Times New Roman" panose="02020603050405020304" pitchFamily="18" charset="0"/>
                <a:cs typeface="Times New Roman" panose="02020603050405020304" pitchFamily="18" charset="0"/>
              </a:rPr>
              <a:t>dual database sync system (SQLite for local environments and KVDB.io API for Vercel environments) to log historical queries.</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A </a:t>
            </a:r>
            <a:r>
              <a:rPr lang="en-US" sz="1800" dirty="0">
                <a:latin typeface="Times New Roman" panose="02020603050405020304" pitchFamily="18" charset="0"/>
                <a:cs typeface="Times New Roman" panose="02020603050405020304" pitchFamily="18" charset="0"/>
              </a:rPr>
              <a:t>responsive modern web UI with light/dark themes, loading skeletons, live counters, progress rings, and historical database lists.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01127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34E3B-B1F4-F913-0233-6151A6169055}"/>
              </a:ext>
            </a:extLst>
          </p:cNvPr>
          <p:cNvSpPr>
            <a:spLocks noGrp="1"/>
          </p:cNvSpPr>
          <p:nvPr>
            <p:ph type="title"/>
          </p:nvPr>
        </p:nvSpPr>
        <p:spPr>
          <a:xfrm>
            <a:off x="723900" y="0"/>
            <a:ext cx="9694985" cy="655983"/>
          </a:xfrm>
        </p:spPr>
        <p:txBody>
          <a:bodyPr>
            <a:noAutofit/>
          </a:bodyPr>
          <a:lstStyle/>
          <a:p>
            <a:r>
              <a:rPr lang="en-US" sz="4000" dirty="0">
                <a:solidFill>
                  <a:schemeClr val="tx1"/>
                </a:solidFill>
                <a:latin typeface="Times New Roman" panose="02020603050405020304" pitchFamily="18" charset="0"/>
                <a:cs typeface="Times New Roman" panose="02020603050405020304" pitchFamily="18" charset="0"/>
              </a:rPr>
              <a:t>4.1 WORK FLOW OF PROPOSED SYSTEM</a:t>
            </a:r>
            <a:endParaRPr lang="en-IN" sz="4000" dirty="0">
              <a:solidFill>
                <a:schemeClr val="tx1"/>
              </a:solidFill>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B29695EF-26B2-E20E-703F-F6EEA70D0E91}"/>
              </a:ext>
            </a:extLst>
          </p:cNvPr>
          <p:cNvSpPr>
            <a:spLocks noGrp="1"/>
          </p:cNvSpPr>
          <p:nvPr>
            <p:ph idx="1"/>
          </p:nvPr>
        </p:nvSpPr>
        <p:spPr>
          <a:xfrm>
            <a:off x="838200" y="1825624"/>
            <a:ext cx="10515600" cy="4841505"/>
          </a:xfrm>
        </p:spPr>
        <p:txBody>
          <a:bodyPr>
            <a:normAutofit/>
          </a:bodyPr>
          <a:lstStyle/>
          <a:p>
            <a:endParaRPr lang="en-IN" sz="1800" dirty="0">
              <a:effectLst/>
              <a:latin typeface="Times New Roman" panose="02020603050405020304" pitchFamily="18" charset="0"/>
              <a:ea typeface="Calibri" panose="020F0502020204030204" pitchFamily="34" charset="0"/>
            </a:endParaRPr>
          </a:p>
          <a:p>
            <a:endParaRPr lang="en-IN" sz="1800" dirty="0">
              <a:latin typeface="Times New Roman" panose="02020603050405020304" pitchFamily="18" charset="0"/>
              <a:ea typeface="Calibri" panose="020F0502020204030204" pitchFamily="34" charset="0"/>
            </a:endParaRPr>
          </a:p>
          <a:p>
            <a:endParaRPr lang="en-IN" sz="1800" dirty="0">
              <a:effectLst/>
              <a:latin typeface="Times New Roman" panose="02020603050405020304" pitchFamily="18" charset="0"/>
              <a:ea typeface="Calibri" panose="020F0502020204030204" pitchFamily="34" charset="0"/>
            </a:endParaRPr>
          </a:p>
          <a:p>
            <a:endParaRPr lang="en-IN" sz="1800" dirty="0">
              <a:latin typeface="Times New Roman" panose="02020603050405020304" pitchFamily="18" charset="0"/>
              <a:ea typeface="Calibri" panose="020F0502020204030204" pitchFamily="34" charset="0"/>
            </a:endParaRPr>
          </a:p>
          <a:p>
            <a:endParaRPr lang="en-IN" sz="1800" dirty="0">
              <a:effectLst/>
              <a:latin typeface="Times New Roman" panose="02020603050405020304" pitchFamily="18" charset="0"/>
              <a:ea typeface="Calibri" panose="020F0502020204030204" pitchFamily="34" charset="0"/>
            </a:endParaRPr>
          </a:p>
          <a:p>
            <a:endParaRPr lang="en-IN" sz="1800" dirty="0">
              <a:latin typeface="Times New Roman" panose="02020603050405020304" pitchFamily="18" charset="0"/>
              <a:ea typeface="Calibri" panose="020F0502020204030204" pitchFamily="34" charset="0"/>
            </a:endParaRPr>
          </a:p>
          <a:p>
            <a:endParaRPr lang="en-IN" sz="1800" dirty="0">
              <a:effectLst/>
              <a:latin typeface="Times New Roman" panose="02020603050405020304" pitchFamily="18" charset="0"/>
              <a:ea typeface="Calibri" panose="020F0502020204030204" pitchFamily="34" charset="0"/>
            </a:endParaRPr>
          </a:p>
          <a:p>
            <a:endParaRPr lang="en-IN" sz="1800" dirty="0">
              <a:latin typeface="Times New Roman" panose="02020603050405020304" pitchFamily="18" charset="0"/>
              <a:ea typeface="Calibri" panose="020F0502020204030204" pitchFamily="34" charset="0"/>
            </a:endParaRPr>
          </a:p>
          <a:p>
            <a:endParaRPr lang="en-IN" sz="1800" dirty="0">
              <a:effectLst/>
              <a:latin typeface="Times New Roman" panose="02020603050405020304" pitchFamily="18" charset="0"/>
              <a:ea typeface="Calibri" panose="020F0502020204030204" pitchFamily="34" charset="0"/>
            </a:endParaRPr>
          </a:p>
          <a:p>
            <a:endParaRPr lang="en-IN" sz="1800" dirty="0">
              <a:latin typeface="Times New Roman" panose="02020603050405020304" pitchFamily="18" charset="0"/>
              <a:ea typeface="Calibri" panose="020F0502020204030204" pitchFamily="34" charset="0"/>
            </a:endParaRPr>
          </a:p>
          <a:p>
            <a:endParaRPr lang="en-IN" sz="1800" dirty="0">
              <a:effectLst/>
              <a:latin typeface="Times New Roman" panose="02020603050405020304" pitchFamily="18" charset="0"/>
              <a:ea typeface="Calibri" panose="020F0502020204030204" pitchFamily="34" charset="0"/>
            </a:endParaRPr>
          </a:p>
          <a:p>
            <a:pPr marL="0" indent="0" algn="ctr">
              <a:buNone/>
            </a:pPr>
            <a:endParaRPr lang="en-IN" sz="1800" dirty="0">
              <a:effectLst/>
              <a:latin typeface="Times New Roman" panose="02020603050405020304" pitchFamily="18" charset="0"/>
              <a:ea typeface="Calibri" panose="020F0502020204030204" pitchFamily="34" charset="0"/>
            </a:endParaRPr>
          </a:p>
          <a:p>
            <a:pPr marL="0" indent="0" algn="ctr">
              <a:buNone/>
            </a:pPr>
            <a:endParaRPr lang="en-IN" sz="1500" dirty="0">
              <a:effectLst/>
              <a:latin typeface="Times New Roman" panose="02020603050405020304" pitchFamily="18" charset="0"/>
              <a:ea typeface="Calibri" panose="020F0502020204030204" pitchFamily="34" charset="0"/>
            </a:endParaRPr>
          </a:p>
          <a:p>
            <a:pPr marL="0" indent="0" algn="ctr">
              <a:buNone/>
            </a:pPr>
            <a:endParaRPr lang="en-IN" sz="1500" dirty="0">
              <a:effectLst/>
              <a:latin typeface="Times New Roman" panose="02020603050405020304" pitchFamily="18" charset="0"/>
              <a:ea typeface="Calibri" panose="020F0502020204030204" pitchFamily="34" charset="0"/>
            </a:endParaRPr>
          </a:p>
          <a:p>
            <a:pPr marL="0" indent="0" algn="ctr">
              <a:buNone/>
            </a:pPr>
            <a:endParaRPr lang="en-IN" sz="1500" dirty="0">
              <a:effectLst/>
              <a:latin typeface="Times New Roman" panose="02020603050405020304" pitchFamily="18" charset="0"/>
              <a:ea typeface="Calibri" panose="020F0502020204030204" pitchFamily="34" charset="0"/>
            </a:endParaRPr>
          </a:p>
          <a:p>
            <a:pPr marL="0" indent="0" algn="ctr">
              <a:buNone/>
            </a:pPr>
            <a:endParaRPr lang="en-IN" sz="1500" dirty="0">
              <a:effectLst/>
              <a:latin typeface="Times New Roman" panose="02020603050405020304" pitchFamily="18" charset="0"/>
              <a:ea typeface="Calibri" panose="020F0502020204030204" pitchFamily="34" charset="0"/>
            </a:endParaRPr>
          </a:p>
          <a:p>
            <a:pPr marL="0" indent="0" algn="ctr">
              <a:buNone/>
            </a:pPr>
            <a:endParaRPr lang="en-IN" sz="1500" dirty="0">
              <a:effectLst/>
              <a:latin typeface="Times New Roman" panose="02020603050405020304" pitchFamily="18" charset="0"/>
              <a:ea typeface="Calibri" panose="020F0502020204030204" pitchFamily="34" charset="0"/>
            </a:endParaRPr>
          </a:p>
          <a:p>
            <a:pPr marL="0" indent="0" algn="ctr">
              <a:buNone/>
            </a:pPr>
            <a:endParaRPr lang="en-IN" sz="1500" dirty="0">
              <a:latin typeface="Times New Roman" panose="02020603050405020304" pitchFamily="18" charset="0"/>
              <a:ea typeface="Calibri" panose="020F0502020204030204" pitchFamily="34" charset="0"/>
            </a:endParaRPr>
          </a:p>
          <a:p>
            <a:pPr marL="0" indent="0" algn="ctr">
              <a:buNone/>
            </a:pPr>
            <a:endParaRPr lang="en-IN" sz="1500" dirty="0">
              <a:effectLst/>
              <a:latin typeface="Times New Roman" panose="02020603050405020304" pitchFamily="18" charset="0"/>
              <a:ea typeface="Calibri" panose="020F0502020204030204" pitchFamily="34" charset="0"/>
            </a:endParaRPr>
          </a:p>
          <a:p>
            <a:pPr marL="0" indent="0" algn="ctr">
              <a:buNone/>
            </a:pPr>
            <a:endParaRPr lang="en-IN" sz="1500" dirty="0">
              <a:effectLst/>
              <a:latin typeface="Times New Roman" panose="02020603050405020304" pitchFamily="18" charset="0"/>
              <a:ea typeface="Calibri" panose="020F0502020204030204" pitchFamily="34" charset="0"/>
            </a:endParaRPr>
          </a:p>
        </p:txBody>
      </p:sp>
      <p:pic>
        <p:nvPicPr>
          <p:cNvPr id="5" name="Picture 4"/>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357803" y="1028700"/>
            <a:ext cx="6427177" cy="55592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7404178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A6AF-430F-F44E-B34F-2620D447F9D3}"/>
              </a:ext>
            </a:extLst>
          </p:cNvPr>
          <p:cNvSpPr>
            <a:spLocks noGrp="1"/>
          </p:cNvSpPr>
          <p:nvPr>
            <p:ph type="title"/>
          </p:nvPr>
        </p:nvSpPr>
        <p:spPr>
          <a:xfrm>
            <a:off x="613873" y="0"/>
            <a:ext cx="8776311" cy="782516"/>
          </a:xfrm>
        </p:spPr>
        <p:txBody>
          <a:bodyPr>
            <a:noAutofit/>
          </a:bodyPr>
          <a:lstStyle/>
          <a:p>
            <a:r>
              <a:rPr lang="en-US" sz="4800" dirty="0">
                <a:solidFill>
                  <a:schemeClr val="tx1"/>
                </a:solidFill>
                <a:latin typeface="Times New Roman" panose="02020603050405020304" pitchFamily="18" charset="0"/>
                <a:cs typeface="Times New Roman" panose="02020603050405020304" pitchFamily="18" charset="0"/>
              </a:rPr>
              <a:t>4.2 WORKING OF </a:t>
            </a:r>
            <a:r>
              <a:rPr lang="en-US" sz="4800" dirty="0" smtClean="0">
                <a:solidFill>
                  <a:schemeClr val="tx1"/>
                </a:solidFill>
                <a:latin typeface="Times New Roman" panose="02020603050405020304" pitchFamily="18" charset="0"/>
                <a:cs typeface="Times New Roman" panose="02020603050405020304" pitchFamily="18" charset="0"/>
              </a:rPr>
              <a:t>ALGORITHM</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2E6DB7F5-F98F-A5B4-9D86-6A0E0ABF35E4}"/>
              </a:ext>
            </a:extLst>
          </p:cNvPr>
          <p:cNvSpPr>
            <a:spLocks noGrp="1"/>
          </p:cNvSpPr>
          <p:nvPr>
            <p:ph sz="half" idx="1"/>
          </p:nvPr>
        </p:nvSpPr>
        <p:spPr>
          <a:xfrm>
            <a:off x="613873" y="1171910"/>
            <a:ext cx="11578127" cy="5686090"/>
          </a:xfrm>
        </p:spPr>
        <p:txBody>
          <a:bodyPr>
            <a:noAutofit/>
          </a:bodyPr>
          <a:lstStyle/>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Input : 'Celebrity </a:t>
            </a:r>
            <a:r>
              <a:rPr lang="en-US" dirty="0">
                <a:latin typeface="Times New Roman" panose="02020603050405020304" pitchFamily="18" charset="0"/>
                <a:cs typeface="Times New Roman" panose="02020603050405020304" pitchFamily="18" charset="0"/>
              </a:rPr>
              <a:t>reveals a shocking secret cure that doctors </a:t>
            </a:r>
            <a:r>
              <a:rPr lang="en-US" dirty="0" smtClean="0">
                <a:latin typeface="Times New Roman" panose="02020603050405020304" pitchFamily="18" charset="0"/>
                <a:cs typeface="Times New Roman" panose="02020603050405020304" pitchFamily="18" charset="0"/>
              </a:rPr>
              <a:t>hate</a:t>
            </a:r>
            <a:endParaRPr lang="en-US" dirty="0" smtClean="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1. Preprocessing: The preprocessor cleans the string, removing special symbols and converting to lower case: 'celebrity reveals shocking secret cure doctors hate'. The stop words are removed, leaving: ['celebrity', 'reveals', 'shocking', 'secret', 'cure', 'doctor', 'hate']. WordNet lemmatizer reduces them to: 'celebrity reveal shocking secret cure doctor hate</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2. TF-IDF Transformation: The vectorizer transforms this into a sparse vector. Features corresponding to 'reveal', 'shocking', and 'secret' are activated with high TF-IDF scores</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3. ML Classifier: The Logistic Regression model multiplies the vector by its internal coefficients. Since 'shocking', 'secret', and 'reveal' have large negative coefficients, the log-odds sum is strongly negative, predicting a 92% probability of 'Fake News' and an 8% probability of 'Real News</a:t>
            </a:r>
            <a:r>
              <a:rPr lang="en-US" dirty="0" smtClean="0">
                <a:latin typeface="Times New Roman" panose="02020603050405020304" pitchFamily="18" charset="0"/>
                <a:cs typeface="Times New Roman" panose="02020603050405020304" pitchFamily="18" charset="0"/>
              </a:rPr>
              <a:t>'.</a:t>
            </a:r>
            <a:endParaRPr lang="en-IN"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Heuristic Overrides: The heuristic module checks the text for indicators. It detects 'shocking', 'secret', and 'cure' (fake score = 3, real score = 0). Since fake score &gt; real score, it boosts the fake probability: </a:t>
            </a:r>
            <a:r>
              <a:rPr lang="en-US" dirty="0" smtClean="0">
                <a:latin typeface="Times New Roman" panose="02020603050405020304" pitchFamily="18" charset="0"/>
                <a:cs typeface="Times New Roman" panose="02020603050405020304" pitchFamily="18" charset="0"/>
              </a:rPr>
              <a:t>fake_prob </a:t>
            </a:r>
            <a:r>
              <a:rPr lang="en-US" dirty="0">
                <a:latin typeface="Times New Roman" panose="02020603050405020304" pitchFamily="18" charset="0"/>
                <a:cs typeface="Times New Roman" panose="02020603050405020304" pitchFamily="18" charset="0"/>
              </a:rPr>
              <a:t>= min(0.95, 0.92 + 3 * 0.15) = 0.95. The probabilities are normalized, and the final prediction is 'Fake News' with 95% confidence.</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5. Explainability Mapping: The model maps the activated coefficients and identifies 'shocking', 'secret', and 'reveal' as key red flags. It outputs these in the content analysis explanation.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391932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BF11E-5AD2-7F02-91BF-1DB85E4FC522}"/>
              </a:ext>
            </a:extLst>
          </p:cNvPr>
          <p:cNvSpPr>
            <a:spLocks noGrp="1"/>
          </p:cNvSpPr>
          <p:nvPr>
            <p:ph type="title"/>
          </p:nvPr>
        </p:nvSpPr>
        <p:spPr>
          <a:xfrm>
            <a:off x="640251" y="0"/>
            <a:ext cx="4723056" cy="930615"/>
          </a:xfrm>
        </p:spPr>
        <p:txBody>
          <a:bodyPr>
            <a:normAutofit/>
          </a:bodyPr>
          <a:lstStyle/>
          <a:p>
            <a:pPr algn="just"/>
            <a:r>
              <a:rPr lang="en-US" sz="4800" dirty="0">
                <a:solidFill>
                  <a:schemeClr val="tx1"/>
                </a:solidFill>
                <a:latin typeface="Times New Roman" panose="02020603050405020304" pitchFamily="18" charset="0"/>
                <a:cs typeface="Times New Roman" panose="02020603050405020304" pitchFamily="18" charset="0"/>
              </a:rPr>
              <a:t>4.3 ALGORITHM</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E8501A-D7A1-DCF3-94C7-4600706C03CA}"/>
              </a:ext>
            </a:extLst>
          </p:cNvPr>
          <p:cNvSpPr>
            <a:spLocks noGrp="1"/>
          </p:cNvSpPr>
          <p:nvPr>
            <p:ph idx="1"/>
          </p:nvPr>
        </p:nvSpPr>
        <p:spPr>
          <a:xfrm>
            <a:off x="640251" y="1148080"/>
            <a:ext cx="11308079" cy="5709920"/>
          </a:xfrm>
        </p:spPr>
        <p:txBody>
          <a:bodyPr>
            <a:noAutofit/>
          </a:bodyPr>
          <a:lstStyle/>
          <a:p>
            <a:pPr marL="0" indent="0">
              <a:buNone/>
            </a:pPr>
            <a:r>
              <a:rPr lang="en-IN" sz="1400" dirty="0">
                <a:latin typeface="Times New Roman" panose="02020603050405020304" pitchFamily="18" charset="0"/>
                <a:cs typeface="Times New Roman" panose="02020603050405020304" pitchFamily="18" charset="0"/>
              </a:rPr>
              <a:t>Algorithm: Hybrid TF-IDF + Logistic Regression with Heuristic Tuning (Best Model: Logistic Regression — 99.44% Accuracy | Dataset: 44,898 </a:t>
            </a:r>
            <a:r>
              <a:rPr lang="en-IN" sz="1400" dirty="0" smtClean="0">
                <a:latin typeface="Times New Roman" panose="02020603050405020304" pitchFamily="18" charset="0"/>
                <a:cs typeface="Times New Roman" panose="02020603050405020304" pitchFamily="18" charset="0"/>
              </a:rPr>
              <a:t>articles)</a:t>
            </a:r>
            <a:endParaRPr lang="en-IN" sz="1400" dirty="0">
              <a:latin typeface="Times New Roman" panose="02020603050405020304" pitchFamily="18" charset="0"/>
              <a:cs typeface="Times New Roman" panose="02020603050405020304" pitchFamily="18" charset="0"/>
            </a:endParaRPr>
          </a:p>
          <a:p>
            <a:pPr marL="0" indent="0">
              <a:buNone/>
            </a:pPr>
            <a:r>
              <a:rPr lang="en-IN" sz="1400" dirty="0">
                <a:latin typeface="Times New Roman" panose="02020603050405020304" pitchFamily="18" charset="0"/>
                <a:cs typeface="Times New Roman" panose="02020603050405020304" pitchFamily="18" charset="0"/>
              </a:rPr>
              <a:t>INPUT  : Raw news article text</a:t>
            </a:r>
          </a:p>
          <a:p>
            <a:pPr marL="0" indent="0">
              <a:buNone/>
            </a:pPr>
            <a:r>
              <a:rPr lang="en-IN" sz="1400" dirty="0">
                <a:latin typeface="Times New Roman" panose="02020603050405020304" pitchFamily="18" charset="0"/>
                <a:cs typeface="Times New Roman" panose="02020603050405020304" pitchFamily="18" charset="0"/>
              </a:rPr>
              <a:t>OUTPUT : "Real News" / "Fake News" with confidence </a:t>
            </a:r>
            <a:r>
              <a:rPr lang="en-IN" sz="1400" dirty="0" smtClean="0">
                <a:latin typeface="Times New Roman" panose="02020603050405020304" pitchFamily="18" charset="0"/>
                <a:cs typeface="Times New Roman" panose="02020603050405020304" pitchFamily="18" charset="0"/>
              </a:rPr>
              <a:t>score</a:t>
            </a:r>
            <a:endParaRPr lang="en-IN" sz="1400" dirty="0">
              <a:latin typeface="Times New Roman" panose="02020603050405020304" pitchFamily="18" charset="0"/>
              <a:cs typeface="Times New Roman" panose="02020603050405020304" pitchFamily="18" charset="0"/>
            </a:endParaRPr>
          </a:p>
          <a:p>
            <a:pPr marL="0" indent="0">
              <a:buNone/>
            </a:pPr>
            <a:r>
              <a:rPr lang="en-IN" sz="1400" dirty="0">
                <a:latin typeface="Times New Roman" panose="02020603050405020304" pitchFamily="18" charset="0"/>
                <a:cs typeface="Times New Roman" panose="02020603050405020304" pitchFamily="18" charset="0"/>
              </a:rPr>
              <a:t>Step 1 : Combine title + body text of the article.</a:t>
            </a:r>
          </a:p>
          <a:p>
            <a:pPr marL="0" indent="0">
              <a:buNone/>
            </a:pPr>
            <a:r>
              <a:rPr lang="en-IN" sz="1400" dirty="0">
                <a:latin typeface="Times New Roman" panose="02020603050405020304" pitchFamily="18" charset="0"/>
                <a:cs typeface="Times New Roman" panose="02020603050405020304" pitchFamily="18" charset="0"/>
              </a:rPr>
              <a:t>Step 2 : Clean text — remove URLs, HTML tags, special characters, source signatures.</a:t>
            </a:r>
          </a:p>
          <a:p>
            <a:pPr marL="0" indent="0">
              <a:buNone/>
            </a:pPr>
            <a:r>
              <a:rPr lang="en-IN" sz="1400" dirty="0">
                <a:latin typeface="Times New Roman" panose="02020603050405020304" pitchFamily="18" charset="0"/>
                <a:cs typeface="Times New Roman" panose="02020603050405020304" pitchFamily="18" charset="0"/>
              </a:rPr>
              <a:t>Step 3 : Tokenize text into words using NLTK tokenizer.</a:t>
            </a:r>
          </a:p>
          <a:p>
            <a:pPr marL="0" indent="0">
              <a:buNone/>
            </a:pPr>
            <a:r>
              <a:rPr lang="en-IN" sz="1400" dirty="0">
                <a:latin typeface="Times New Roman" panose="02020603050405020304" pitchFamily="18" charset="0"/>
                <a:cs typeface="Times New Roman" panose="02020603050405020304" pitchFamily="18" charset="0"/>
              </a:rPr>
              <a:t>Step 4 : Remove English stop words (the, is, an, etc.).</a:t>
            </a:r>
          </a:p>
          <a:p>
            <a:pPr marL="0" indent="0">
              <a:buNone/>
            </a:pPr>
            <a:r>
              <a:rPr lang="en-IN" sz="1400" dirty="0">
                <a:latin typeface="Times New Roman" panose="02020603050405020304" pitchFamily="18" charset="0"/>
                <a:cs typeface="Times New Roman" panose="02020603050405020304" pitchFamily="18" charset="0"/>
              </a:rPr>
              <a:t>Step 5 : Lemmatize tokens to base form (e.g., "running" → "run").</a:t>
            </a:r>
          </a:p>
          <a:p>
            <a:pPr marL="0" indent="0">
              <a:buNone/>
            </a:pPr>
            <a:r>
              <a:rPr lang="en-IN" sz="1400" dirty="0">
                <a:latin typeface="Times New Roman" panose="02020603050405020304" pitchFamily="18" charset="0"/>
                <a:cs typeface="Times New Roman" panose="02020603050405020304" pitchFamily="18" charset="0"/>
              </a:rPr>
              <a:t>Step 6 : Convert processed text to TF-IDF vector (10,000 features, n-grams 1–3).</a:t>
            </a:r>
          </a:p>
          <a:p>
            <a:pPr marL="0" indent="0">
              <a:buNone/>
            </a:pPr>
            <a:r>
              <a:rPr lang="en-IN" sz="1400" dirty="0">
                <a:latin typeface="Times New Roman" panose="02020603050405020304" pitchFamily="18" charset="0"/>
                <a:cs typeface="Times New Roman" panose="02020603050405020304" pitchFamily="18" charset="0"/>
              </a:rPr>
              <a:t>Step 7 : Feed TF-IDF vector into trained Logistic Regression model.</a:t>
            </a:r>
          </a:p>
          <a:p>
            <a:pPr marL="0" indent="0">
              <a:buNone/>
            </a:pPr>
            <a:r>
              <a:rPr lang="en-IN" sz="1400" dirty="0">
                <a:latin typeface="Times New Roman" panose="02020603050405020304" pitchFamily="18" charset="0"/>
                <a:cs typeface="Times New Roman" panose="02020603050405020304" pitchFamily="18" charset="0"/>
              </a:rPr>
              <a:t>Step 8 : Obtain base probabilities — P(Fake) and P(Real).</a:t>
            </a:r>
          </a:p>
          <a:p>
            <a:pPr marL="0" indent="0">
              <a:buNone/>
            </a:pPr>
            <a:r>
              <a:rPr lang="en-IN" sz="1400" dirty="0">
                <a:latin typeface="Times New Roman" panose="02020603050405020304" pitchFamily="18" charset="0"/>
                <a:cs typeface="Times New Roman" panose="02020603050405020304" pitchFamily="18" charset="0"/>
              </a:rPr>
              <a:t>Step 9 : Apply heuristic keyword adjustment:</a:t>
            </a:r>
          </a:p>
          <a:p>
            <a:pPr marL="0" indent="0">
              <a:buNone/>
            </a:pPr>
            <a:r>
              <a:rPr lang="en-IN" sz="1400" dirty="0">
                <a:latin typeface="Times New Roman" panose="02020603050405020304" pitchFamily="18" charset="0"/>
                <a:cs typeface="Times New Roman" panose="02020603050405020304" pitchFamily="18" charset="0"/>
              </a:rPr>
              <a:t>           • Scan for fake indicators (shocking, miracle, secret, conspiracy)</a:t>
            </a:r>
          </a:p>
          <a:p>
            <a:pPr marL="0" indent="0">
              <a:buNone/>
            </a:pPr>
            <a:r>
              <a:rPr lang="en-IN" sz="1400" dirty="0">
                <a:latin typeface="Times New Roman" panose="02020603050405020304" pitchFamily="18" charset="0"/>
                <a:cs typeface="Times New Roman" panose="02020603050405020304" pitchFamily="18" charset="0"/>
              </a:rPr>
              <a:t>           • Scan for real indicators (study, research, journal, peer-reviewed)</a:t>
            </a:r>
          </a:p>
          <a:p>
            <a:pPr marL="0" indent="0">
              <a:buNone/>
            </a:pPr>
            <a:r>
              <a:rPr lang="en-IN" sz="1400" dirty="0">
                <a:latin typeface="Times New Roman" panose="02020603050405020304" pitchFamily="18" charset="0"/>
                <a:cs typeface="Times New Roman" panose="02020603050405020304" pitchFamily="18" charset="0"/>
              </a:rPr>
              <a:t>           • Boost matching class probability by 15% per keyword (max 95%).</a:t>
            </a:r>
          </a:p>
          <a:p>
            <a:pPr marL="0" indent="0">
              <a:buNone/>
            </a:pPr>
            <a:r>
              <a:rPr lang="en-IN" sz="1400" dirty="0">
                <a:latin typeface="Times New Roman" panose="02020603050405020304" pitchFamily="18" charset="0"/>
                <a:cs typeface="Times New Roman" panose="02020603050405020304" pitchFamily="18" charset="0"/>
              </a:rPr>
              <a:t>Step 10: Normalize probabilities so P(Fake) + P(Real) = 1.0.</a:t>
            </a:r>
          </a:p>
          <a:p>
            <a:pPr marL="0" indent="0">
              <a:buNone/>
            </a:pPr>
            <a:r>
              <a:rPr lang="en-IN" sz="1400" dirty="0">
                <a:latin typeface="Times New Roman" panose="02020603050405020304" pitchFamily="18" charset="0"/>
                <a:cs typeface="Times New Roman" panose="02020603050405020304" pitchFamily="18" charset="0"/>
              </a:rPr>
              <a:t>Step 11: Return final label, confidence score, and explanation</a:t>
            </a:r>
            <a:r>
              <a:rPr lang="en-IN" sz="14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6776119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4CAC5-546B-8526-FA6F-79F337001B7C}"/>
              </a:ext>
            </a:extLst>
          </p:cNvPr>
          <p:cNvSpPr>
            <a:spLocks noGrp="1"/>
          </p:cNvSpPr>
          <p:nvPr>
            <p:ph type="title"/>
          </p:nvPr>
        </p:nvSpPr>
        <p:spPr>
          <a:xfrm>
            <a:off x="650278" y="8792"/>
            <a:ext cx="5534238" cy="751754"/>
          </a:xfrm>
        </p:spPr>
        <p:txBody>
          <a:bodyPr>
            <a:noAutofit/>
          </a:bodyPr>
          <a:lstStyle/>
          <a:p>
            <a:r>
              <a:rPr lang="en-US" sz="4800" dirty="0">
                <a:solidFill>
                  <a:schemeClr val="tx1"/>
                </a:solidFill>
                <a:latin typeface="Times New Roman" panose="02020603050405020304" pitchFamily="18" charset="0"/>
                <a:cs typeface="Times New Roman" panose="02020603050405020304" pitchFamily="18" charset="0"/>
              </a:rPr>
              <a:t>4.4 DATASET USED</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577856E8-C8A9-8092-B0D5-B2908E488312}"/>
              </a:ext>
            </a:extLst>
          </p:cNvPr>
          <p:cNvSpPr>
            <a:spLocks noGrp="1"/>
          </p:cNvSpPr>
          <p:nvPr>
            <p:ph sz="half" idx="1"/>
          </p:nvPr>
        </p:nvSpPr>
        <p:spPr>
          <a:xfrm>
            <a:off x="650278" y="1233230"/>
            <a:ext cx="9267446" cy="436310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model is trained on the </a:t>
            </a:r>
            <a:r>
              <a:rPr lang="en-US" dirty="0" smtClean="0">
                <a:latin typeface="Times New Roman" panose="02020603050405020304" pitchFamily="18" charset="0"/>
                <a:cs typeface="Times New Roman" panose="02020603050405020304" pitchFamily="18" charset="0"/>
              </a:rPr>
              <a:t>ISOT (Information Security &amp; Obejct Technology) Fake </a:t>
            </a:r>
            <a:r>
              <a:rPr lang="en-US" dirty="0">
                <a:latin typeface="Times New Roman" panose="02020603050405020304" pitchFamily="18" charset="0"/>
                <a:cs typeface="Times New Roman" panose="02020603050405020304" pitchFamily="18" charset="0"/>
              </a:rPr>
              <a:t>News Dataset. This public dataset contains thousands of articles collected from real-world news sources.</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Dataset breakdown and structures are detailed below:</a:t>
            </a:r>
            <a:endParaRPr lang="en-IN"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650278" y="2758932"/>
            <a:ext cx="7922221" cy="2837403"/>
          </a:xfrm>
          <a:prstGeom prst="rect">
            <a:avLst/>
          </a:prstGeom>
        </p:spPr>
      </p:pic>
    </p:spTree>
    <p:extLst>
      <p:ext uri="{BB962C8B-B14F-4D97-AF65-F5344CB8AC3E}">
        <p14:creationId xmlns:p14="http://schemas.microsoft.com/office/powerpoint/2010/main" val="64475147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3ABED-314C-08DC-10C0-73E46E0EE42F}"/>
              </a:ext>
            </a:extLst>
          </p:cNvPr>
          <p:cNvSpPr>
            <a:spLocks noGrp="1"/>
          </p:cNvSpPr>
          <p:nvPr>
            <p:ph type="title"/>
          </p:nvPr>
        </p:nvSpPr>
        <p:spPr>
          <a:xfrm>
            <a:off x="586885" y="0"/>
            <a:ext cx="9506684" cy="722598"/>
          </a:xfrm>
        </p:spPr>
        <p:txBody>
          <a:bodyPr>
            <a:noAutofit/>
          </a:bodyPr>
          <a:lstStyle/>
          <a:p>
            <a:pPr algn="just"/>
            <a:r>
              <a:rPr lang="en-US" sz="4000" dirty="0">
                <a:solidFill>
                  <a:schemeClr val="tx1"/>
                </a:solidFill>
                <a:latin typeface="Times New Roman" panose="02020603050405020304" pitchFamily="18" charset="0"/>
                <a:cs typeface="Times New Roman" panose="02020603050405020304" pitchFamily="18" charset="0"/>
              </a:rPr>
              <a:t>5</a:t>
            </a:r>
            <a:r>
              <a:rPr lang="en-US" sz="4000" dirty="0" smtClean="0">
                <a:solidFill>
                  <a:schemeClr val="tx1"/>
                </a:solidFill>
                <a:latin typeface="Times New Roman" panose="02020603050405020304" pitchFamily="18" charset="0"/>
                <a:cs typeface="Times New Roman" panose="02020603050405020304" pitchFamily="18" charset="0"/>
              </a:rPr>
              <a:t>. RESULT </a:t>
            </a:r>
            <a:r>
              <a:rPr lang="en-US" sz="4000" dirty="0">
                <a:solidFill>
                  <a:schemeClr val="tx1"/>
                </a:solidFill>
                <a:latin typeface="Times New Roman" panose="02020603050405020304" pitchFamily="18" charset="0"/>
                <a:cs typeface="Times New Roman" panose="02020603050405020304" pitchFamily="18" charset="0"/>
              </a:rPr>
              <a:t>ANALYSIS AND DISCUSSION</a:t>
            </a:r>
            <a:endParaRPr lang="en-IN" sz="40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533EA3-CED6-508E-7122-5B94D21E98DD}"/>
              </a:ext>
            </a:extLst>
          </p:cNvPr>
          <p:cNvSpPr>
            <a:spLocks noGrp="1"/>
          </p:cNvSpPr>
          <p:nvPr>
            <p:ph idx="1"/>
          </p:nvPr>
        </p:nvSpPr>
        <p:spPr>
          <a:xfrm>
            <a:off x="586885" y="1148615"/>
            <a:ext cx="11066755" cy="5542331"/>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The models were trained using a 3-fold cross-validated GridSearchCV with a train-test split of 80% training (35,918 articles) and 20% validation (8,980 articles).</a:t>
            </a: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The model performance results are as follows:</a:t>
            </a:r>
            <a:endParaRPr lang="en-IN" sz="1800" dirty="0">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Discussion</a:t>
            </a:r>
            <a:r>
              <a:rPr lang="en-US" sz="1800" dirty="0">
                <a:latin typeface="Times New Roman" panose="02020603050405020304" pitchFamily="18" charset="0"/>
                <a:cs typeface="Times New Roman" panose="02020603050405020304" pitchFamily="18" charset="0"/>
              </a:rPr>
              <a:t>: The Logistic Regression model outperforms Multinomial Naive Bayes by achieving 99.44% across all evaluation metrics. Although Naive Bayes trains extremely fast (under 1 second), it operates under the assumption of feature independence, which is violated in structural news text (where the order of words creates context). Logistic Regression, using optimized coefficients and L2 regularization, effectively weights phrases and structural features.</a:t>
            </a: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The generated plots are saved in the project root: 'confusion_matrix_best_model.png' shows that out of 8,980 test articles, the model made only a handful of classification errors. The 'feature_coefficients.png' plot displays the primary words determining the boundary, showing that terms like 'reporters', 'senate', and </a:t>
            </a:r>
            <a:r>
              <a:rPr lang="en-US" sz="1800" dirty="0" smtClean="0">
                <a:latin typeface="Times New Roman" panose="02020603050405020304" pitchFamily="18" charset="0"/>
                <a:cs typeface="Times New Roman" panose="02020603050405020304" pitchFamily="18" charset="0"/>
              </a:rPr>
              <a:t>‘Washington' </a:t>
            </a:r>
            <a:r>
              <a:rPr lang="en-US" sz="1800" dirty="0">
                <a:latin typeface="Times New Roman" panose="02020603050405020304" pitchFamily="18" charset="0"/>
                <a:cs typeface="Times New Roman" panose="02020603050405020304" pitchFamily="18" charset="0"/>
              </a:rPr>
              <a:t>strongly influence 'Real News' predictions, while emotional words and unverified clickbait terms sway the boundary towards 'Fake News'.</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927837" y="2292627"/>
            <a:ext cx="5471912" cy="508412"/>
          </a:xfrm>
          <a:prstGeom prst="rect">
            <a:avLst/>
          </a:prstGeom>
        </p:spPr>
      </p:pic>
      <p:pic>
        <p:nvPicPr>
          <p:cNvPr id="5" name="Picture 4"/>
          <p:cNvPicPr>
            <a:picLocks noChangeAspect="1"/>
          </p:cNvPicPr>
          <p:nvPr/>
        </p:nvPicPr>
        <p:blipFill>
          <a:blip r:embed="rId3"/>
          <a:stretch>
            <a:fillRect/>
          </a:stretch>
        </p:blipFill>
        <p:spPr>
          <a:xfrm>
            <a:off x="2927837" y="2807573"/>
            <a:ext cx="5471913" cy="1192695"/>
          </a:xfrm>
          <a:prstGeom prst="rect">
            <a:avLst/>
          </a:prstGeom>
        </p:spPr>
      </p:pic>
    </p:spTree>
    <p:extLst>
      <p:ext uri="{BB962C8B-B14F-4D97-AF65-F5344CB8AC3E}">
        <p14:creationId xmlns:p14="http://schemas.microsoft.com/office/powerpoint/2010/main" val="382193440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457" y="0"/>
            <a:ext cx="10142051" cy="444097"/>
          </a:xfrm>
        </p:spPr>
        <p:txBody>
          <a:bodyPr/>
          <a:lstStyle/>
          <a:p>
            <a:r>
              <a:rPr lang="en-US" sz="2400" b="1" dirty="0">
                <a:latin typeface="Times New Roman" panose="02020603050405020304" pitchFamily="18" charset="0"/>
                <a:cs typeface="Times New Roman" panose="02020603050405020304" pitchFamily="18" charset="0"/>
              </a:rPr>
              <a:t>5.1 COMPARISON OF EXISTING SYSTEM WITH PROPOSED SYSTEM</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0457" y="997841"/>
            <a:ext cx="10142051" cy="5271074"/>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A systematic comparison outlines the key advantages of the proposed TruthScan system</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194123436"/>
              </p:ext>
            </p:extLst>
          </p:nvPr>
        </p:nvGraphicFramePr>
        <p:xfrm>
          <a:off x="892297" y="1828802"/>
          <a:ext cx="9500211" cy="4440113"/>
        </p:xfrm>
        <a:graphic>
          <a:graphicData uri="http://schemas.openxmlformats.org/drawingml/2006/table">
            <a:tbl>
              <a:tblPr firstRow="1" firstCol="1" bandRow="1">
                <a:tableStyleId>{775DCB02-9BB8-47FD-8907-85C794F793BA}</a:tableStyleId>
              </a:tblPr>
              <a:tblGrid>
                <a:gridCol w="3166737">
                  <a:extLst>
                    <a:ext uri="{9D8B030D-6E8A-4147-A177-3AD203B41FA5}">
                      <a16:colId xmlns:a16="http://schemas.microsoft.com/office/drawing/2014/main" val="1076547801"/>
                    </a:ext>
                  </a:extLst>
                </a:gridCol>
                <a:gridCol w="3166737">
                  <a:extLst>
                    <a:ext uri="{9D8B030D-6E8A-4147-A177-3AD203B41FA5}">
                      <a16:colId xmlns:a16="http://schemas.microsoft.com/office/drawing/2014/main" val="282220904"/>
                    </a:ext>
                  </a:extLst>
                </a:gridCol>
                <a:gridCol w="3166737">
                  <a:extLst>
                    <a:ext uri="{9D8B030D-6E8A-4147-A177-3AD203B41FA5}">
                      <a16:colId xmlns:a16="http://schemas.microsoft.com/office/drawing/2014/main" val="2957725393"/>
                    </a:ext>
                  </a:extLst>
                </a:gridCol>
              </a:tblGrid>
              <a:tr h="480839">
                <a:tc>
                  <a:txBody>
                    <a:bodyPr/>
                    <a:lstStyle/>
                    <a:p>
                      <a:pPr marL="0" marR="0">
                        <a:lnSpc>
                          <a:spcPct val="115000"/>
                        </a:lnSpc>
                        <a:spcBef>
                          <a:spcPts val="0"/>
                        </a:spcBef>
                        <a:spcAft>
                          <a:spcPts val="1000"/>
                        </a:spcAft>
                      </a:pPr>
                      <a:r>
                        <a:rPr lang="en-US" sz="1100">
                          <a:effectLst/>
                        </a:rPr>
                        <a:t>Parameter / Feature</a:t>
                      </a:r>
                      <a:endParaRPr lang="en-IN" sz="110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100" dirty="0">
                          <a:effectLst/>
                        </a:rPr>
                        <a:t>Existing Systems</a:t>
                      </a:r>
                      <a:endParaRPr lang="en-IN" sz="1100" dirty="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100" dirty="0">
                          <a:effectLst/>
                        </a:rPr>
                        <a:t>Proposed System (TruthScan)</a:t>
                      </a:r>
                      <a:endParaRPr lang="en-IN" sz="1100" dirty="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extLst>
                  <a:ext uri="{0D108BD9-81ED-4DB2-BD59-A6C34878D82A}">
                    <a16:rowId xmlns:a16="http://schemas.microsoft.com/office/drawing/2014/main" val="527783960"/>
                  </a:ext>
                </a:extLst>
              </a:tr>
              <a:tr h="1061750">
                <a:tc>
                  <a:txBody>
                    <a:bodyPr/>
                    <a:lstStyle/>
                    <a:p>
                      <a:pPr marL="0" marR="0">
                        <a:lnSpc>
                          <a:spcPct val="115000"/>
                        </a:lnSpc>
                        <a:spcBef>
                          <a:spcPts val="0"/>
                        </a:spcBef>
                        <a:spcAft>
                          <a:spcPts val="1000"/>
                        </a:spcAft>
                      </a:pPr>
                      <a:r>
                        <a:rPr lang="en-US" sz="1050" dirty="0">
                          <a:effectLst/>
                        </a:rPr>
                        <a:t>Speed &amp; Processing Time</a:t>
                      </a:r>
                      <a:endParaRPr lang="en-IN" sz="1100" dirty="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050" dirty="0">
                          <a:effectLst/>
                        </a:rPr>
                        <a:t>Manual checks take hours or days; regex keyword models are slow to adapt.</a:t>
                      </a:r>
                      <a:endParaRPr lang="en-IN" sz="1100" dirty="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050" dirty="0">
                          <a:effectLst/>
                        </a:rPr>
                        <a:t>Real-time. Classifies text and returns results in under 50 milliseconds.</a:t>
                      </a:r>
                      <a:endParaRPr lang="en-IN" sz="1100" dirty="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extLst>
                  <a:ext uri="{0D108BD9-81ED-4DB2-BD59-A6C34878D82A}">
                    <a16:rowId xmlns:a16="http://schemas.microsoft.com/office/drawing/2014/main" val="1070713163"/>
                  </a:ext>
                </a:extLst>
              </a:tr>
              <a:tr h="774024">
                <a:tc>
                  <a:txBody>
                    <a:bodyPr/>
                    <a:lstStyle/>
                    <a:p>
                      <a:pPr marL="0" marR="0">
                        <a:lnSpc>
                          <a:spcPct val="115000"/>
                        </a:lnSpc>
                        <a:spcBef>
                          <a:spcPts val="0"/>
                        </a:spcBef>
                        <a:spcAft>
                          <a:spcPts val="1000"/>
                        </a:spcAft>
                      </a:pPr>
                      <a:r>
                        <a:rPr lang="en-US" sz="1050">
                          <a:effectLst/>
                        </a:rPr>
                        <a:t>Accuracy &amp; Generalization</a:t>
                      </a:r>
                      <a:endParaRPr lang="en-IN" sz="110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050">
                          <a:effectLst/>
                        </a:rPr>
                        <a:t>Low or highly inconsistent. Struggle with unseen writing structures.</a:t>
                      </a:r>
                      <a:endParaRPr lang="en-IN" sz="110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050">
                          <a:effectLst/>
                        </a:rPr>
                        <a:t>99.44% accuracy by training on 44,898 real-world articles.</a:t>
                      </a:r>
                      <a:endParaRPr lang="en-IN" sz="110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extLst>
                  <a:ext uri="{0D108BD9-81ED-4DB2-BD59-A6C34878D82A}">
                    <a16:rowId xmlns:a16="http://schemas.microsoft.com/office/drawing/2014/main" val="2601560450"/>
                  </a:ext>
                </a:extLst>
              </a:tr>
              <a:tr h="1061750">
                <a:tc>
                  <a:txBody>
                    <a:bodyPr/>
                    <a:lstStyle/>
                    <a:p>
                      <a:pPr marL="0" marR="0">
                        <a:lnSpc>
                          <a:spcPct val="115000"/>
                        </a:lnSpc>
                        <a:spcBef>
                          <a:spcPts val="0"/>
                        </a:spcBef>
                        <a:spcAft>
                          <a:spcPts val="1000"/>
                        </a:spcAft>
                      </a:pPr>
                      <a:r>
                        <a:rPr lang="en-US" sz="1050">
                          <a:effectLst/>
                        </a:rPr>
                        <a:t>Explainability</a:t>
                      </a:r>
                      <a:endParaRPr lang="en-IN" sz="110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050">
                          <a:effectLst/>
                        </a:rPr>
                        <a:t>Black-box. User only receives a final label with no explanation.</a:t>
                      </a:r>
                      <a:endParaRPr lang="en-IN" sz="110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050">
                          <a:effectLst/>
                        </a:rPr>
                        <a:t>XAI module displays tf-idf coefficient weights and details why it decided.</a:t>
                      </a:r>
                      <a:endParaRPr lang="en-IN" sz="110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extLst>
                  <a:ext uri="{0D108BD9-81ED-4DB2-BD59-A6C34878D82A}">
                    <a16:rowId xmlns:a16="http://schemas.microsoft.com/office/drawing/2014/main" val="296015210"/>
                  </a:ext>
                </a:extLst>
              </a:tr>
              <a:tr h="1061750">
                <a:tc>
                  <a:txBody>
                    <a:bodyPr/>
                    <a:lstStyle/>
                    <a:p>
                      <a:pPr marL="0" marR="0">
                        <a:lnSpc>
                          <a:spcPct val="115000"/>
                        </a:lnSpc>
                        <a:spcBef>
                          <a:spcPts val="0"/>
                        </a:spcBef>
                        <a:spcAft>
                          <a:spcPts val="1000"/>
                        </a:spcAft>
                      </a:pPr>
                      <a:r>
                        <a:rPr lang="en-US" sz="1050" dirty="0">
                          <a:effectLst/>
                        </a:rPr>
                        <a:t>Deployment &amp; Scalability</a:t>
                      </a:r>
                      <a:endParaRPr lang="en-IN" sz="1100" dirty="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050">
                          <a:effectLst/>
                        </a:rPr>
                        <a:t>Requires local environment setups or high-cost GPU servers.</a:t>
                      </a:r>
                      <a:endParaRPr lang="en-IN" sz="110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tc>
                  <a:txBody>
                    <a:bodyPr/>
                    <a:lstStyle/>
                    <a:p>
                      <a:pPr marL="0" marR="0">
                        <a:lnSpc>
                          <a:spcPct val="115000"/>
                        </a:lnSpc>
                        <a:spcBef>
                          <a:spcPts val="0"/>
                        </a:spcBef>
                        <a:spcAft>
                          <a:spcPts val="1000"/>
                        </a:spcAft>
                      </a:pPr>
                      <a:r>
                        <a:rPr lang="en-US" sz="1050" dirty="0">
                          <a:effectLst/>
                        </a:rPr>
                        <a:t>Lightweight serverless architecture deployed on Vercel with KVDB syncing.</a:t>
                      </a:r>
                      <a:endParaRPr lang="en-IN" sz="1100" dirty="0">
                        <a:solidFill>
                          <a:srgbClr val="334155"/>
                        </a:solidFill>
                        <a:effectLst/>
                        <a:latin typeface="Calibri" panose="020F0502020204030204" pitchFamily="34" charset="0"/>
                        <a:ea typeface="MS Mincho"/>
                        <a:cs typeface="Times New Roman" panose="02020603050405020304" pitchFamily="18" charset="0"/>
                      </a:endParaRPr>
                    </a:p>
                  </a:txBody>
                  <a:tcPr marL="95250" marR="95250" marT="63500" marB="63500"/>
                </a:tc>
                <a:extLst>
                  <a:ext uri="{0D108BD9-81ED-4DB2-BD59-A6C34878D82A}">
                    <a16:rowId xmlns:a16="http://schemas.microsoft.com/office/drawing/2014/main" val="995867452"/>
                  </a:ext>
                </a:extLst>
              </a:tr>
            </a:tbl>
          </a:graphicData>
        </a:graphic>
      </p:graphicFrame>
    </p:spTree>
    <p:extLst>
      <p:ext uri="{BB962C8B-B14F-4D97-AF65-F5344CB8AC3E}">
        <p14:creationId xmlns:p14="http://schemas.microsoft.com/office/powerpoint/2010/main" val="3255060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33AF9-68FE-A89A-A123-9862C8BA54B5}"/>
              </a:ext>
            </a:extLst>
          </p:cNvPr>
          <p:cNvSpPr>
            <a:spLocks noGrp="1"/>
          </p:cNvSpPr>
          <p:nvPr>
            <p:ph type="title"/>
          </p:nvPr>
        </p:nvSpPr>
        <p:spPr>
          <a:xfrm>
            <a:off x="676656" y="0"/>
            <a:ext cx="6033340" cy="741114"/>
          </a:xfrm>
        </p:spPr>
        <p:txBody>
          <a:bodyPr>
            <a:noAutofit/>
          </a:bodyPr>
          <a:lstStyle/>
          <a:p>
            <a:pPr algn="just"/>
            <a:r>
              <a:rPr lang="en-US" sz="4800" dirty="0">
                <a:solidFill>
                  <a:schemeClr val="tx1"/>
                </a:solidFill>
                <a:latin typeface="Times New Roman" panose="02020603050405020304" pitchFamily="18" charset="0"/>
                <a:cs typeface="Times New Roman" panose="02020603050405020304" pitchFamily="18" charset="0"/>
              </a:rPr>
              <a:t>5.4 OUTPUT SCREEN</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AC00474-3D0C-3CD3-A910-F00E60AB7EBF}"/>
              </a:ext>
            </a:extLst>
          </p:cNvPr>
          <p:cNvSpPr>
            <a:spLocks noGrp="1"/>
          </p:cNvSpPr>
          <p:nvPr>
            <p:ph idx="1"/>
          </p:nvPr>
        </p:nvSpPr>
        <p:spPr>
          <a:xfrm>
            <a:off x="676656" y="1169377"/>
            <a:ext cx="7535359" cy="5688623"/>
          </a:xfrm>
        </p:spPr>
        <p:txBody>
          <a:bodyPr>
            <a:normAutofit fontScale="92500" lnSpcReduction="10000"/>
          </a:bodyPr>
          <a:lstStyle/>
          <a:p>
            <a:pPr marL="0" indent="0">
              <a:buNone/>
            </a:pPr>
            <a:r>
              <a:rPr lang="en-US" sz="1800" dirty="0">
                <a:latin typeface="Times New Roman" panose="02020603050405020304" pitchFamily="18" charset="0"/>
                <a:cs typeface="Times New Roman" panose="02020603050405020304" pitchFamily="18" charset="0"/>
              </a:rPr>
              <a:t>The web interface of TruthScan is built using a modern, responsive single-page web framework. The key visual modules include</a:t>
            </a:r>
            <a:r>
              <a:rPr lang="en-US" sz="1800" dirty="0" smtClean="0">
                <a:latin typeface="Times New Roman" panose="02020603050405020304" pitchFamily="18" charset="0"/>
                <a:cs typeface="Times New Roman" panose="02020603050405020304" pitchFamily="18" charset="0"/>
              </a:rPr>
              <a:t>:</a:t>
            </a:r>
          </a:p>
          <a:p>
            <a:pPr marL="0" indent="0">
              <a:buNone/>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b="1" dirty="0" smtClean="0">
                <a:latin typeface="Times New Roman" panose="02020603050405020304" pitchFamily="18" charset="0"/>
                <a:cs typeface="Times New Roman" panose="02020603050405020304" pitchFamily="18" charset="0"/>
              </a:rPr>
              <a:t>Main </a:t>
            </a:r>
            <a:r>
              <a:rPr lang="en-US" sz="1800" b="1" dirty="0">
                <a:latin typeface="Times New Roman" panose="02020603050405020304" pitchFamily="18" charset="0"/>
                <a:cs typeface="Times New Roman" panose="02020603050405020304" pitchFamily="18" charset="0"/>
              </a:rPr>
              <a:t>Input Console:</a:t>
            </a:r>
            <a:r>
              <a:rPr lang="en-US" sz="1800" dirty="0">
                <a:latin typeface="Times New Roman" panose="02020603050405020304" pitchFamily="18" charset="0"/>
                <a:cs typeface="Times New Roman" panose="02020603050405020304" pitchFamily="18" charset="0"/>
              </a:rPr>
              <a:t> A custom text field designed for pasting large news articles. Includes a live character and word counter, and instant sample buttons for testing ('Fake Example', 'Real Example</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b="1" dirty="0" smtClean="0">
                <a:latin typeface="Times New Roman" panose="02020603050405020304" pitchFamily="18" charset="0"/>
                <a:cs typeface="Times New Roman" panose="02020603050405020304" pitchFamily="18" charset="0"/>
              </a:rPr>
              <a:t>Loading </a:t>
            </a:r>
            <a:r>
              <a:rPr lang="en-US" sz="1800" b="1" dirty="0">
                <a:latin typeface="Times New Roman" panose="02020603050405020304" pitchFamily="18" charset="0"/>
                <a:cs typeface="Times New Roman" panose="02020603050405020304" pitchFamily="18" charset="0"/>
              </a:rPr>
              <a:t>Skeleton Scan:</a:t>
            </a:r>
            <a:r>
              <a:rPr lang="en-US" sz="1800" dirty="0">
                <a:latin typeface="Times New Roman" panose="02020603050405020304" pitchFamily="18" charset="0"/>
                <a:cs typeface="Times New Roman" panose="02020603050405020304" pitchFamily="18" charset="0"/>
              </a:rPr>
              <a:t> When the analysis begins, the input card animates with a glowing skeleton and a horizontal laser line running down the text, representing active neural-linguistic scanning.</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b="1" dirty="0" smtClean="0">
                <a:latin typeface="Times New Roman" panose="02020603050405020304" pitchFamily="18" charset="0"/>
                <a:cs typeface="Times New Roman" panose="02020603050405020304" pitchFamily="18" charset="0"/>
              </a:rPr>
              <a:t>Circular </a:t>
            </a:r>
            <a:r>
              <a:rPr lang="en-US" sz="1800" b="1" dirty="0">
                <a:latin typeface="Times New Roman" panose="02020603050405020304" pitchFamily="18" charset="0"/>
                <a:cs typeface="Times New Roman" panose="02020603050405020304" pitchFamily="18" charset="0"/>
              </a:rPr>
              <a:t>Confidence Ring:</a:t>
            </a:r>
            <a:r>
              <a:rPr lang="en-US" sz="1800" dirty="0">
                <a:latin typeface="Times New Roman" panose="02020603050405020304" pitchFamily="18" charset="0"/>
                <a:cs typeface="Times New Roman" panose="02020603050405020304" pitchFamily="18" charset="0"/>
              </a:rPr>
              <a:t> A custom SVG-based radial progress ring that dynamically fills based on model certainty, shifting from emerald (real) to crimson (fake).</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b="1" dirty="0" smtClean="0">
                <a:latin typeface="Times New Roman" panose="02020603050405020304" pitchFamily="18" charset="0"/>
                <a:cs typeface="Times New Roman" panose="02020603050405020304" pitchFamily="18" charset="0"/>
              </a:rPr>
              <a:t>Probability </a:t>
            </a:r>
            <a:r>
              <a:rPr lang="en-US" sz="1800" b="1" dirty="0">
                <a:latin typeface="Times New Roman" panose="02020603050405020304" pitchFamily="18" charset="0"/>
                <a:cs typeface="Times New Roman" panose="02020603050405020304" pitchFamily="18" charset="0"/>
              </a:rPr>
              <a:t>Chart:</a:t>
            </a:r>
            <a:r>
              <a:rPr lang="en-US" sz="1800" dirty="0">
                <a:latin typeface="Times New Roman" panose="02020603050405020304" pitchFamily="18" charset="0"/>
                <a:cs typeface="Times New Roman" panose="02020603050405020304" pitchFamily="18" charset="0"/>
              </a:rPr>
              <a:t> A distribution panel showing the percentage split between Real and Fake categories with animated linear bar charts.</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b="1" dirty="0" smtClean="0">
                <a:latin typeface="Times New Roman" panose="02020603050405020304" pitchFamily="18" charset="0"/>
                <a:cs typeface="Times New Roman" panose="02020603050405020304" pitchFamily="18" charset="0"/>
              </a:rPr>
              <a:t>Explanation </a:t>
            </a:r>
            <a:r>
              <a:rPr lang="en-US" sz="1800" b="1" dirty="0">
                <a:latin typeface="Times New Roman" panose="02020603050405020304" pitchFamily="18" charset="0"/>
                <a:cs typeface="Times New Roman" panose="02020603050405020304" pitchFamily="18" charset="0"/>
              </a:rPr>
              <a:t>Card:</a:t>
            </a:r>
            <a:r>
              <a:rPr lang="en-US" sz="1800" dirty="0">
                <a:latin typeface="Times New Roman" panose="02020603050405020304" pitchFamily="18" charset="0"/>
                <a:cs typeface="Times New Roman" panose="02020603050405020304" pitchFamily="18" charset="0"/>
              </a:rPr>
              <a:t> A text block displaying a breakdown of the classification, highlighting the specific keywords and source traits that triggered the verdict.</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b="1" dirty="0" smtClean="0">
                <a:latin typeface="Times New Roman" panose="02020603050405020304" pitchFamily="18" charset="0"/>
                <a:cs typeface="Times New Roman" panose="02020603050405020304" pitchFamily="18" charset="0"/>
              </a:rPr>
              <a:t>History </a:t>
            </a:r>
            <a:r>
              <a:rPr lang="en-US" sz="1800" b="1" dirty="0">
                <a:latin typeface="Times New Roman" panose="02020603050405020304" pitchFamily="18" charset="0"/>
                <a:cs typeface="Times New Roman" panose="02020603050405020304" pitchFamily="18" charset="0"/>
              </a:rPr>
              <a:t>Panel: </a:t>
            </a:r>
            <a:r>
              <a:rPr lang="en-US" sz="1800" dirty="0">
                <a:latin typeface="Times New Roman" panose="02020603050405020304" pitchFamily="18" charset="0"/>
                <a:cs typeface="Times New Roman" panose="02020603050405020304" pitchFamily="18" charset="0"/>
              </a:rPr>
              <a:t>A modern history drawer showing all queries performed. The history is synchronized via SQLite locally and KVDB REST API on Vercel serverless.</a:t>
            </a:r>
            <a:endParaRPr lang="en-IN" sz="1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608809" y="4136776"/>
            <a:ext cx="3259657" cy="1402378"/>
          </a:xfrm>
          <a:prstGeom prst="rect">
            <a:avLst/>
          </a:prstGeom>
        </p:spPr>
      </p:pic>
      <p:pic>
        <p:nvPicPr>
          <p:cNvPr id="4" name="Picture 3"/>
          <p:cNvPicPr>
            <a:picLocks noChangeAspect="1"/>
          </p:cNvPicPr>
          <p:nvPr/>
        </p:nvPicPr>
        <p:blipFill>
          <a:blip r:embed="rId3"/>
          <a:stretch>
            <a:fillRect/>
          </a:stretch>
        </p:blipFill>
        <p:spPr>
          <a:xfrm>
            <a:off x="8608809" y="2765176"/>
            <a:ext cx="3259657" cy="1261701"/>
          </a:xfrm>
          <a:prstGeom prst="rect">
            <a:avLst/>
          </a:prstGeom>
        </p:spPr>
      </p:pic>
      <p:pic>
        <p:nvPicPr>
          <p:cNvPr id="6" name="Picture 5"/>
          <p:cNvPicPr>
            <a:picLocks noChangeAspect="1"/>
          </p:cNvPicPr>
          <p:nvPr/>
        </p:nvPicPr>
        <p:blipFill>
          <a:blip r:embed="rId4"/>
          <a:stretch>
            <a:fillRect/>
          </a:stretch>
        </p:blipFill>
        <p:spPr>
          <a:xfrm>
            <a:off x="8608809" y="1301262"/>
            <a:ext cx="3259657" cy="1354015"/>
          </a:xfrm>
          <a:prstGeom prst="rect">
            <a:avLst/>
          </a:prstGeom>
        </p:spPr>
      </p:pic>
      <p:pic>
        <p:nvPicPr>
          <p:cNvPr id="7" name="Picture 6"/>
          <p:cNvPicPr>
            <a:picLocks noChangeAspect="1"/>
          </p:cNvPicPr>
          <p:nvPr/>
        </p:nvPicPr>
        <p:blipFill>
          <a:blip r:embed="rId5"/>
          <a:stretch>
            <a:fillRect/>
          </a:stretch>
        </p:blipFill>
        <p:spPr>
          <a:xfrm>
            <a:off x="8608809" y="5649053"/>
            <a:ext cx="3259657" cy="1090255"/>
          </a:xfrm>
          <a:prstGeom prst="rect">
            <a:avLst/>
          </a:prstGeom>
        </p:spPr>
      </p:pic>
    </p:spTree>
    <p:extLst>
      <p:ext uri="{BB962C8B-B14F-4D97-AF65-F5344CB8AC3E}">
        <p14:creationId xmlns:p14="http://schemas.microsoft.com/office/powerpoint/2010/main" val="25128233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24E22-2046-B91A-DF60-5F82A8B796CC}"/>
              </a:ext>
            </a:extLst>
          </p:cNvPr>
          <p:cNvSpPr>
            <a:spLocks noGrp="1"/>
          </p:cNvSpPr>
          <p:nvPr>
            <p:ph type="title"/>
          </p:nvPr>
        </p:nvSpPr>
        <p:spPr>
          <a:xfrm>
            <a:off x="834917" y="-17585"/>
            <a:ext cx="4190054" cy="822185"/>
          </a:xfrm>
        </p:spPr>
        <p:txBody>
          <a:bodyPr>
            <a:noAutofit/>
          </a:bodyPr>
          <a:lstStyle/>
          <a:p>
            <a:pPr algn="just"/>
            <a:r>
              <a:rPr lang="en-US" sz="4800" dirty="0">
                <a:solidFill>
                  <a:schemeClr val="tx1"/>
                </a:solidFill>
                <a:latin typeface="Times New Roman" panose="02020603050405020304" pitchFamily="18" charset="0"/>
                <a:cs typeface="Times New Roman" panose="02020603050405020304" pitchFamily="18" charset="0"/>
              </a:rPr>
              <a:t>CONCLUSION</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DFDA2F-99B1-467E-83B3-BE743932F246}"/>
              </a:ext>
            </a:extLst>
          </p:cNvPr>
          <p:cNvSpPr>
            <a:spLocks noGrp="1"/>
          </p:cNvSpPr>
          <p:nvPr>
            <p:ph idx="1"/>
          </p:nvPr>
        </p:nvSpPr>
        <p:spPr>
          <a:xfrm>
            <a:off x="834917" y="1696913"/>
            <a:ext cx="8010145" cy="3640017"/>
          </a:xfrm>
        </p:spPr>
        <p:txBody>
          <a:bodyPr>
            <a:normAutofit/>
          </a:bodyPr>
          <a:lstStyle/>
          <a:p>
            <a:pPr marL="0" indent="0" algn="just">
              <a:lnSpc>
                <a:spcPct val="90000"/>
              </a:lnSpc>
              <a:buNone/>
            </a:pPr>
            <a:r>
              <a:rPr lang="en-US" sz="1800" dirty="0">
                <a:latin typeface="Times New Roman" panose="02020603050405020304" pitchFamily="18" charset="0"/>
                <a:cs typeface="Times New Roman" panose="02020603050405020304" pitchFamily="18" charset="0"/>
              </a:rPr>
              <a:t>The TruthScan Fake News Detection System successfully achieves its goal of providing an automated, real-time, and explainable tool to fight misinformation. </a:t>
            </a:r>
          </a:p>
          <a:p>
            <a:pPr marL="0" indent="0" algn="just">
              <a:lnSpc>
                <a:spcPct val="90000"/>
              </a:lnSpc>
              <a:buNone/>
            </a:pPr>
            <a:r>
              <a:rPr lang="en-US" sz="1800" dirty="0" smtClean="0">
                <a:latin typeface="Times New Roman" panose="02020603050405020304" pitchFamily="18" charset="0"/>
                <a:cs typeface="Times New Roman" panose="02020603050405020304" pitchFamily="18" charset="0"/>
              </a:rPr>
              <a:t>By </a:t>
            </a:r>
            <a:r>
              <a:rPr lang="en-US" sz="1800" dirty="0">
                <a:latin typeface="Times New Roman" panose="02020603050405020304" pitchFamily="18" charset="0"/>
                <a:cs typeface="Times New Roman" panose="02020603050405020304" pitchFamily="18" charset="0"/>
              </a:rPr>
              <a:t>combining optimized text preprocessing, high-performance TF-IDF feature mapping, and a hybrid Logistic Regression model with rule-based heuristic weights, the system secures an impressive 99.44% validation accuracy. </a:t>
            </a:r>
            <a:endParaRPr lang="en-US" sz="1800" dirty="0" smtClean="0">
              <a:latin typeface="Times New Roman" panose="02020603050405020304" pitchFamily="18" charset="0"/>
              <a:cs typeface="Times New Roman" panose="02020603050405020304" pitchFamily="18" charset="0"/>
            </a:endParaRPr>
          </a:p>
          <a:p>
            <a:pPr marL="0" indent="0" algn="just">
              <a:lnSpc>
                <a:spcPct val="90000"/>
              </a:lnSpc>
              <a:buNone/>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implementation of feature coefficient explanations solves the AI transparency gap, while the serverless Vercel deployment with dual KVDB database synchronization proves that high-performance machine learning models can be hosted on a zero-cost, stateless cloud architecture. </a:t>
            </a:r>
            <a:endParaRPr lang="en-US" sz="1800" dirty="0" smtClean="0">
              <a:latin typeface="Times New Roman" panose="02020603050405020304" pitchFamily="18" charset="0"/>
              <a:cs typeface="Times New Roman" panose="02020603050405020304" pitchFamily="18" charset="0"/>
            </a:endParaRPr>
          </a:p>
          <a:p>
            <a:pPr marL="0" indent="0" algn="just">
              <a:lnSpc>
                <a:spcPct val="90000"/>
              </a:lnSpc>
              <a:buNone/>
            </a:pPr>
            <a:endParaRPr lang="en-US" sz="1800" dirty="0">
              <a:latin typeface="Times New Roman" panose="02020603050405020304" pitchFamily="18" charset="0"/>
              <a:cs typeface="Times New Roman" panose="02020603050405020304" pitchFamily="18" charset="0"/>
            </a:endParaRPr>
          </a:p>
          <a:p>
            <a:pPr marL="0" indent="0" algn="just">
              <a:lnSpc>
                <a:spcPct val="90000"/>
              </a:lnSpc>
              <a:buNone/>
            </a:pPr>
            <a:r>
              <a:rPr lang="en-US" sz="1800" dirty="0" smtClean="0">
                <a:latin typeface="Times New Roman" panose="02020603050405020304" pitchFamily="18" charset="0"/>
                <a:cs typeface="Times New Roman" panose="02020603050405020304" pitchFamily="18" charset="0"/>
              </a:rPr>
              <a:t>TruthScan </a:t>
            </a:r>
            <a:r>
              <a:rPr lang="en-US" sz="1800" dirty="0">
                <a:latin typeface="Times New Roman" panose="02020603050405020304" pitchFamily="18" charset="0"/>
                <a:cs typeface="Times New Roman" panose="02020603050405020304" pitchFamily="18" charset="0"/>
              </a:rPr>
              <a:t>represents a viable, scalable utility for online fact-checking.</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1800" dirty="0"/>
          </a:p>
        </p:txBody>
      </p:sp>
    </p:spTree>
    <p:extLst>
      <p:ext uri="{BB962C8B-B14F-4D97-AF65-F5344CB8AC3E}">
        <p14:creationId xmlns:p14="http://schemas.microsoft.com/office/powerpoint/2010/main" val="29863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4B476-E987-522E-1F14-3B1362295AA1}"/>
              </a:ext>
            </a:extLst>
          </p:cNvPr>
          <p:cNvSpPr>
            <a:spLocks noGrp="1"/>
          </p:cNvSpPr>
          <p:nvPr>
            <p:ph type="title"/>
          </p:nvPr>
        </p:nvSpPr>
        <p:spPr>
          <a:xfrm>
            <a:off x="676656" y="0"/>
            <a:ext cx="7372870" cy="808727"/>
          </a:xfrm>
        </p:spPr>
        <p:txBody>
          <a:bodyPr>
            <a:noAutofit/>
          </a:bodyPr>
          <a:lstStyle/>
          <a:p>
            <a:pPr algn="just"/>
            <a:r>
              <a:rPr lang="en-US" sz="4800" dirty="0">
                <a:solidFill>
                  <a:schemeClr val="tx1"/>
                </a:solidFill>
                <a:latin typeface="Times New Roman" panose="02020603050405020304" pitchFamily="18" charset="0"/>
                <a:cs typeface="Times New Roman" panose="02020603050405020304" pitchFamily="18" charset="0"/>
              </a:rPr>
              <a:t>FUTURE ENHANCEMENT</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F5C6C9-F773-D72C-5C00-E5D8928C8CC7}"/>
              </a:ext>
            </a:extLst>
          </p:cNvPr>
          <p:cNvSpPr>
            <a:spLocks noGrp="1"/>
          </p:cNvSpPr>
          <p:nvPr>
            <p:ph idx="1"/>
          </p:nvPr>
        </p:nvSpPr>
        <p:spPr>
          <a:xfrm>
            <a:off x="676656" y="1497924"/>
            <a:ext cx="10753725" cy="4384130"/>
          </a:xfrm>
        </p:spPr>
        <p:txBody>
          <a:bodyPr>
            <a:noAutofit/>
          </a:bodyPr>
          <a:lstStyle/>
          <a:p>
            <a:pPr marL="0" indent="0">
              <a:lnSpc>
                <a:spcPct val="90000"/>
              </a:lnSpc>
              <a:buNone/>
            </a:pPr>
            <a:r>
              <a:rPr lang="en-US" sz="1800" dirty="0">
                <a:latin typeface="Times New Roman" panose="02020603050405020304" pitchFamily="18" charset="0"/>
                <a:cs typeface="Times New Roman" panose="02020603050405020304" pitchFamily="18" charset="0"/>
              </a:rPr>
              <a:t>While highly performant, TruthScan can be expanded with several future additions</a:t>
            </a:r>
            <a:r>
              <a:rPr lang="en-US" sz="1800" dirty="0" smtClean="0">
                <a:latin typeface="Times New Roman" panose="02020603050405020304" pitchFamily="18" charset="0"/>
                <a:cs typeface="Times New Roman" panose="02020603050405020304" pitchFamily="18" charset="0"/>
              </a:rPr>
              <a:t>:</a:t>
            </a:r>
          </a:p>
          <a:p>
            <a:pPr marL="0" indent="0">
              <a:lnSpc>
                <a:spcPct val="90000"/>
              </a:lnSpc>
              <a:buNone/>
            </a:pPr>
            <a:endParaRPr lang="en-IN" sz="1800" dirty="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Transformer-based </a:t>
            </a:r>
            <a:r>
              <a:rPr lang="en-US" sz="1800" dirty="0">
                <a:latin typeface="Times New Roman" panose="02020603050405020304" pitchFamily="18" charset="0"/>
                <a:cs typeface="Times New Roman" panose="02020603050405020304" pitchFamily="18" charset="0"/>
              </a:rPr>
              <a:t>Deep Learning: Integrating pre-trained language models like BERT, RoBERTa, or DistilBERT using PyTorch to capture deep syntactic context and sarcasm</a:t>
            </a:r>
            <a:r>
              <a:rPr lang="en-US" sz="1800" dirty="0" smtClean="0">
                <a:latin typeface="Times New Roman" panose="02020603050405020304" pitchFamily="18" charset="0"/>
                <a:cs typeface="Times New Roman" panose="02020603050405020304" pitchFamily="18" charset="0"/>
              </a:rPr>
              <a:t>.</a:t>
            </a:r>
          </a:p>
          <a:p>
            <a:pPr>
              <a:lnSpc>
                <a:spcPct val="90000"/>
              </a:lnSpc>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Multi-Lingual </a:t>
            </a:r>
            <a:r>
              <a:rPr lang="en-US" sz="1800" dirty="0">
                <a:latin typeface="Times New Roman" panose="02020603050405020304" pitchFamily="18" charset="0"/>
                <a:cs typeface="Times New Roman" panose="02020603050405020304" pitchFamily="18" charset="0"/>
              </a:rPr>
              <a:t>Processing: Training models on non-English corpora (e.g., Hindi, Spanish) to protect regional populations from local misinformation</a:t>
            </a:r>
            <a:r>
              <a:rPr lang="en-US" sz="1800" dirty="0" smtClean="0">
                <a:latin typeface="Times New Roman" panose="02020603050405020304" pitchFamily="18" charset="0"/>
                <a:cs typeface="Times New Roman" panose="02020603050405020304" pitchFamily="18" charset="0"/>
              </a:rPr>
              <a:t>.</a:t>
            </a:r>
          </a:p>
          <a:p>
            <a:pPr>
              <a:lnSpc>
                <a:spcPct val="90000"/>
              </a:lnSpc>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Social </a:t>
            </a:r>
            <a:r>
              <a:rPr lang="en-US" sz="1800" dirty="0">
                <a:latin typeface="Times New Roman" panose="02020603050405020304" pitchFamily="18" charset="0"/>
                <a:cs typeface="Times New Roman" panose="02020603050405020304" pitchFamily="18" charset="0"/>
              </a:rPr>
              <a:t>Graph Network Analysis: Incorporating propagation graphs to monitor how stories spread across social media, combining textual signals with structural sharing patterns</a:t>
            </a:r>
            <a:r>
              <a:rPr lang="en-US" sz="1800" dirty="0" smtClean="0">
                <a:latin typeface="Times New Roman" panose="02020603050405020304" pitchFamily="18" charset="0"/>
                <a:cs typeface="Times New Roman" panose="02020603050405020304" pitchFamily="18" charset="0"/>
              </a:rPr>
              <a:t>.</a:t>
            </a:r>
          </a:p>
          <a:p>
            <a:pPr>
              <a:lnSpc>
                <a:spcPct val="90000"/>
              </a:lnSpc>
              <a:buFont typeface="Wingdings" panose="05000000000000000000" pitchFamily="2" charset="2"/>
              <a:buChar char="v"/>
            </a:pPr>
            <a:endParaRPr lang="en-IN" sz="1800" dirty="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Real-Time </a:t>
            </a:r>
            <a:r>
              <a:rPr lang="en-US" sz="1800" dirty="0">
                <a:latin typeface="Times New Roman" panose="02020603050405020304" pitchFamily="18" charset="0"/>
                <a:cs typeface="Times New Roman" panose="02020603050405020304" pitchFamily="18" charset="0"/>
              </a:rPr>
              <a:t>Fact-Checking APIs: Linking the prediction engine to public fact-checking repositories (e.g., Google Fact Check API, ClaimReview) to fetch immediate truth ratings on trending claims.</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319135578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3896F-7EC9-71BE-746C-244E12525CB4}"/>
              </a:ext>
            </a:extLst>
          </p:cNvPr>
          <p:cNvSpPr>
            <a:spLocks noGrp="1"/>
          </p:cNvSpPr>
          <p:nvPr>
            <p:ph type="title"/>
          </p:nvPr>
        </p:nvSpPr>
        <p:spPr>
          <a:xfrm>
            <a:off x="719091" y="0"/>
            <a:ext cx="4152167" cy="909389"/>
          </a:xfrm>
        </p:spPr>
        <p:txBody>
          <a:bodyPr/>
          <a:lstStyle/>
          <a:p>
            <a:r>
              <a:rPr lang="en-US" sz="4800" dirty="0">
                <a:solidFill>
                  <a:schemeClr val="tx1"/>
                </a:solidFill>
                <a:latin typeface="Times New Roman" panose="02020603050405020304" pitchFamily="18" charset="0"/>
                <a:cs typeface="Times New Roman" panose="02020603050405020304" pitchFamily="18" charset="0"/>
              </a:rPr>
              <a:t>REFERENCES</a:t>
            </a:r>
            <a:endParaRPr lang="en-IN" sz="4000" dirty="0">
              <a:solidFill>
                <a:schemeClr val="tx1"/>
              </a:solidFill>
            </a:endParaRPr>
          </a:p>
        </p:txBody>
      </p:sp>
      <p:graphicFrame>
        <p:nvGraphicFramePr>
          <p:cNvPr id="4" name="Content Placeholder 3">
            <a:extLst>
              <a:ext uri="{FF2B5EF4-FFF2-40B4-BE49-F238E27FC236}">
                <a16:creationId xmlns:a16="http://schemas.microsoft.com/office/drawing/2014/main" id="{CF2FDE4E-B520-02DC-5C0E-09ABCED379E6}"/>
              </a:ext>
            </a:extLst>
          </p:cNvPr>
          <p:cNvGraphicFramePr>
            <a:graphicFrameLocks noGrp="1"/>
          </p:cNvGraphicFramePr>
          <p:nvPr>
            <p:ph idx="1"/>
            <p:extLst>
              <p:ext uri="{D42A27DB-BD31-4B8C-83A1-F6EECF244321}">
                <p14:modId xmlns:p14="http://schemas.microsoft.com/office/powerpoint/2010/main" val="1965344742"/>
              </p:ext>
            </p:extLst>
          </p:nvPr>
        </p:nvGraphicFramePr>
        <p:xfrm>
          <a:off x="719091" y="1400129"/>
          <a:ext cx="10710908" cy="5065515"/>
        </p:xfrm>
        <a:graphic>
          <a:graphicData uri="http://schemas.openxmlformats.org/drawingml/2006/table">
            <a:tbl>
              <a:tblPr firstRow="1" firstCol="1" bandRow="1">
                <a:tableStyleId>{2D5ABB26-0587-4C30-8999-92F81FD0307C}</a:tableStyleId>
              </a:tblPr>
              <a:tblGrid>
                <a:gridCol w="629693">
                  <a:extLst>
                    <a:ext uri="{9D8B030D-6E8A-4147-A177-3AD203B41FA5}">
                      <a16:colId xmlns:a16="http://schemas.microsoft.com/office/drawing/2014/main" val="2543867294"/>
                    </a:ext>
                  </a:extLst>
                </a:gridCol>
                <a:gridCol w="10081215">
                  <a:extLst>
                    <a:ext uri="{9D8B030D-6E8A-4147-A177-3AD203B41FA5}">
                      <a16:colId xmlns:a16="http://schemas.microsoft.com/office/drawing/2014/main" val="1129028242"/>
                    </a:ext>
                  </a:extLst>
                </a:gridCol>
              </a:tblGrid>
              <a:tr h="1171057">
                <a:tc>
                  <a:txBody>
                    <a:bodyPr/>
                    <a:lstStyle/>
                    <a:p>
                      <a:pPr>
                        <a:lnSpc>
                          <a:spcPct val="150000"/>
                        </a:lnSpc>
                        <a:spcAft>
                          <a:spcPts val="800"/>
                        </a:spcAft>
                      </a:pPr>
                      <a:r>
                        <a:rPr lang="en-IN" sz="1600" kern="0" dirty="0">
                          <a:effectLst/>
                          <a:latin typeface="Times New Roman" panose="02020603050405020304" pitchFamily="18" charset="0"/>
                          <a:cs typeface="Times New Roman" panose="02020603050405020304" pitchFamily="18" charset="0"/>
                        </a:rPr>
                        <a:t>[1]</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716" marR="33716" marT="0" marB="0"/>
                </a:tc>
                <a:tc>
                  <a:txBody>
                    <a:bodyPr/>
                    <a:lstStyle/>
                    <a:p>
                      <a:pPr algn="l" defTabSz="457200" rtl="0" eaLnBrk="1" latinLnBrk="0" hangingPunct="1">
                        <a:spcBef>
                          <a:spcPts val="1000"/>
                        </a:spcBef>
                        <a:spcAft>
                          <a:spcPts val="0"/>
                        </a:spcAft>
                        <a:buClr>
                          <a:schemeClr val="bg2">
                            <a:lumMod val="40000"/>
                            <a:lumOff val="60000"/>
                          </a:schemeClr>
                        </a:buClr>
                        <a:buSzPct val="80000"/>
                      </a:pPr>
                      <a:r>
                        <a:rPr lang="en-US" sz="1800" b="0" i="0" kern="1200" dirty="0" smtClean="0">
                          <a:solidFill>
                            <a:schemeClr val="tx1"/>
                          </a:solidFill>
                          <a:latin typeface="Times New Roman" panose="02020603050405020304" pitchFamily="18" charset="0"/>
                          <a:ea typeface="+mj-ea"/>
                          <a:cs typeface="Times New Roman" panose="02020603050405020304" pitchFamily="18" charset="0"/>
                        </a:rPr>
                        <a:t>Ahmed, H., Traore, I., &amp; Sayed, S. (2017). 'A comparison of sparsity methods for fake news detection.' In International Conference on Pattern Recognition and Machine Intelligence (pp. 307-313). Springer.</a:t>
                      </a:r>
                      <a:endParaRPr lang="en-IN" sz="1800" b="0" i="0" kern="1200" dirty="0">
                        <a:solidFill>
                          <a:schemeClr val="tx1"/>
                        </a:solidFill>
                        <a:latin typeface="Times New Roman" panose="02020603050405020304" pitchFamily="18" charset="0"/>
                        <a:ea typeface="+mj-ea"/>
                        <a:cs typeface="Times New Roman" panose="02020603050405020304" pitchFamily="18" charset="0"/>
                      </a:endParaRPr>
                    </a:p>
                  </a:txBody>
                  <a:tcPr marL="33716" marR="33716" marT="0" marB="0"/>
                </a:tc>
                <a:extLst>
                  <a:ext uri="{0D108BD9-81ED-4DB2-BD59-A6C34878D82A}">
                    <a16:rowId xmlns:a16="http://schemas.microsoft.com/office/drawing/2014/main" val="1063693891"/>
                  </a:ext>
                </a:extLst>
              </a:tr>
              <a:tr h="935546">
                <a:tc>
                  <a:txBody>
                    <a:bodyPr/>
                    <a:lstStyle/>
                    <a:p>
                      <a:pPr>
                        <a:lnSpc>
                          <a:spcPct val="150000"/>
                        </a:lnSpc>
                        <a:spcAft>
                          <a:spcPts val="800"/>
                        </a:spcAft>
                      </a:pPr>
                      <a:r>
                        <a:rPr lang="en-IN" sz="1600" kern="0">
                          <a:effectLst/>
                          <a:latin typeface="Times New Roman" panose="02020603050405020304" pitchFamily="18" charset="0"/>
                          <a:cs typeface="Times New Roman" panose="02020603050405020304" pitchFamily="18" charset="0"/>
                        </a:rPr>
                        <a:t>[2]</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3716" marR="33716" marT="0" marB="0"/>
                </a:tc>
                <a:tc>
                  <a:txBody>
                    <a:bodyPr/>
                    <a:lstStyle/>
                    <a:p>
                      <a:pPr algn="l" defTabSz="457200" rtl="0" eaLnBrk="1" latinLnBrk="0" hangingPunct="1">
                        <a:spcBef>
                          <a:spcPts val="1000"/>
                        </a:spcBef>
                        <a:spcAft>
                          <a:spcPts val="0"/>
                        </a:spcAft>
                        <a:buClr>
                          <a:schemeClr val="bg2">
                            <a:lumMod val="40000"/>
                            <a:lumOff val="60000"/>
                          </a:schemeClr>
                        </a:buClr>
                        <a:buSzPct val="80000"/>
                      </a:pPr>
                      <a:r>
                        <a:rPr lang="en-US" sz="1800" b="0" i="0" kern="1200" dirty="0" smtClean="0">
                          <a:solidFill>
                            <a:schemeClr val="tx1"/>
                          </a:solidFill>
                          <a:latin typeface="Times New Roman" panose="02020603050405020304" pitchFamily="18" charset="0"/>
                          <a:ea typeface="+mj-ea"/>
                          <a:cs typeface="Times New Roman" panose="02020603050405020304" pitchFamily="18" charset="0"/>
                        </a:rPr>
                        <a:t>Vosoughi, S., Roy, D., &amp; Aral, S. (2018). 'The spread of true and false news online.' Science, 359(6380), 1146-1151.</a:t>
                      </a:r>
                      <a:endParaRPr lang="en-IN" sz="1800" b="0" i="0" kern="1200" dirty="0">
                        <a:solidFill>
                          <a:schemeClr val="tx1"/>
                        </a:solidFill>
                        <a:latin typeface="Times New Roman" panose="02020603050405020304" pitchFamily="18" charset="0"/>
                        <a:ea typeface="+mj-ea"/>
                        <a:cs typeface="Times New Roman" panose="02020603050405020304" pitchFamily="18" charset="0"/>
                      </a:endParaRPr>
                    </a:p>
                  </a:txBody>
                  <a:tcPr marL="33716" marR="33716" marT="0" marB="0"/>
                </a:tc>
                <a:extLst>
                  <a:ext uri="{0D108BD9-81ED-4DB2-BD59-A6C34878D82A}">
                    <a16:rowId xmlns:a16="http://schemas.microsoft.com/office/drawing/2014/main" val="3027726733"/>
                  </a:ext>
                </a:extLst>
              </a:tr>
              <a:tr h="935546">
                <a:tc>
                  <a:txBody>
                    <a:bodyPr/>
                    <a:lstStyle/>
                    <a:p>
                      <a:pPr>
                        <a:lnSpc>
                          <a:spcPct val="150000"/>
                        </a:lnSpc>
                        <a:spcAft>
                          <a:spcPts val="800"/>
                        </a:spcAft>
                      </a:pPr>
                      <a:r>
                        <a:rPr lang="en-IN" sz="1600" kern="0">
                          <a:effectLst/>
                          <a:latin typeface="Times New Roman" panose="02020603050405020304" pitchFamily="18" charset="0"/>
                          <a:cs typeface="Times New Roman" panose="02020603050405020304" pitchFamily="18" charset="0"/>
                        </a:rPr>
                        <a:t>[3]</a:t>
                      </a:r>
                      <a:endParaRPr lang="en-IN" sz="1600" kern="100">
                        <a:effectLst/>
                        <a:latin typeface="Times New Roman" panose="02020603050405020304" pitchFamily="18" charset="0"/>
                        <a:cs typeface="Times New Roman" panose="02020603050405020304" pitchFamily="18" charset="0"/>
                      </a:endParaRPr>
                    </a:p>
                    <a:p>
                      <a:pPr>
                        <a:lnSpc>
                          <a:spcPct val="150000"/>
                        </a:lnSpc>
                        <a:spcAft>
                          <a:spcPts val="800"/>
                        </a:spcAft>
                      </a:pPr>
                      <a:r>
                        <a:rPr lang="en-IN" sz="1600" kern="0">
                          <a:effectLst/>
                          <a:latin typeface="Times New Roman" panose="02020603050405020304" pitchFamily="18" charset="0"/>
                          <a:cs typeface="Times New Roman" panose="02020603050405020304" pitchFamily="18" charset="0"/>
                        </a:rPr>
                        <a:t> </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3716" marR="33716" marT="0" marB="0"/>
                </a:tc>
                <a:tc>
                  <a:txBody>
                    <a:bodyPr/>
                    <a:lstStyle/>
                    <a:p>
                      <a:pPr algn="l" defTabSz="457200" rtl="0" eaLnBrk="1" latinLnBrk="0" hangingPunct="1">
                        <a:spcBef>
                          <a:spcPts val="1000"/>
                        </a:spcBef>
                        <a:spcAft>
                          <a:spcPts val="0"/>
                        </a:spcAft>
                        <a:buClr>
                          <a:schemeClr val="bg2">
                            <a:lumMod val="40000"/>
                            <a:lumOff val="60000"/>
                          </a:schemeClr>
                        </a:buClr>
                        <a:buSzPct val="80000"/>
                      </a:pPr>
                      <a:r>
                        <a:rPr lang="en-US" sz="1800" b="0" i="0" kern="1200" dirty="0" smtClean="0">
                          <a:solidFill>
                            <a:schemeClr val="tx1"/>
                          </a:solidFill>
                          <a:latin typeface="Times New Roman" panose="02020603050405020304" pitchFamily="18" charset="0"/>
                          <a:ea typeface="+mj-ea"/>
                          <a:cs typeface="Times New Roman" panose="02020603050405020304" pitchFamily="18" charset="0"/>
                        </a:rPr>
                        <a:t>Shu, K., Sliva, A., Wang, S., Tang, J., &amp; Liu, H. (2017). 'Fake news detection on social media: A data mining perspective.' ACM SIGKDD Explorations Newsletter, 19(1), 22-36.</a:t>
                      </a:r>
                      <a:endParaRPr lang="en-US" sz="1800" b="0" i="0" kern="1200" dirty="0">
                        <a:solidFill>
                          <a:schemeClr val="tx1"/>
                        </a:solidFill>
                        <a:latin typeface="Times New Roman" panose="02020603050405020304" pitchFamily="18" charset="0"/>
                        <a:ea typeface="+mj-ea"/>
                        <a:cs typeface="Times New Roman" panose="02020603050405020304" pitchFamily="18" charset="0"/>
                      </a:endParaRPr>
                    </a:p>
                  </a:txBody>
                  <a:tcPr marL="33716" marR="33716" marT="0" marB="0"/>
                </a:tc>
                <a:extLst>
                  <a:ext uri="{0D108BD9-81ED-4DB2-BD59-A6C34878D82A}">
                    <a16:rowId xmlns:a16="http://schemas.microsoft.com/office/drawing/2014/main" val="3553830128"/>
                  </a:ext>
                </a:extLst>
              </a:tr>
              <a:tr h="764469">
                <a:tc>
                  <a:txBody>
                    <a:bodyPr/>
                    <a:lstStyle/>
                    <a:p>
                      <a:pPr>
                        <a:lnSpc>
                          <a:spcPct val="150000"/>
                        </a:lnSpc>
                        <a:spcAft>
                          <a:spcPts val="800"/>
                        </a:spcAft>
                      </a:pPr>
                      <a:r>
                        <a:rPr lang="en-IN" sz="1600" kern="0">
                          <a:effectLst/>
                          <a:latin typeface="Times New Roman" panose="02020603050405020304" pitchFamily="18" charset="0"/>
                          <a:cs typeface="Times New Roman" panose="02020603050405020304" pitchFamily="18" charset="0"/>
                        </a:rPr>
                        <a:t>[4]</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3716" marR="33716" marT="0" marB="0"/>
                </a:tc>
                <a:tc>
                  <a:txBody>
                    <a:bodyPr/>
                    <a:lstStyle/>
                    <a:p>
                      <a:pPr algn="l" defTabSz="457200" rtl="0" eaLnBrk="1" latinLnBrk="0" hangingPunct="1">
                        <a:spcBef>
                          <a:spcPts val="1000"/>
                        </a:spcBef>
                        <a:spcAft>
                          <a:spcPts val="0"/>
                        </a:spcAft>
                        <a:buClr>
                          <a:schemeClr val="bg2">
                            <a:lumMod val="40000"/>
                            <a:lumOff val="60000"/>
                          </a:schemeClr>
                        </a:buClr>
                        <a:buSzPct val="80000"/>
                      </a:pPr>
                      <a:r>
                        <a:rPr lang="en-US" sz="1800" b="0" i="0" kern="1200" dirty="0" smtClean="0">
                          <a:solidFill>
                            <a:schemeClr val="tx1"/>
                          </a:solidFill>
                          <a:latin typeface="Times New Roman" panose="02020603050405020304" pitchFamily="18" charset="0"/>
                          <a:ea typeface="+mj-ea"/>
                          <a:cs typeface="Times New Roman" panose="02020603050405020304" pitchFamily="18" charset="0"/>
                        </a:rPr>
                        <a:t>Salton, G., &amp; Buckley, C. (1988). 'Term-weighting approaches in automatic text retrieval.' Information Processing &amp; Management, 24(5), 513-523.</a:t>
                      </a:r>
                      <a:endParaRPr lang="en-US" sz="1800" b="0" i="0" kern="1200" dirty="0">
                        <a:solidFill>
                          <a:schemeClr val="tx1"/>
                        </a:solidFill>
                        <a:latin typeface="Times New Roman" panose="02020603050405020304" pitchFamily="18" charset="0"/>
                        <a:ea typeface="+mj-ea"/>
                        <a:cs typeface="Times New Roman" panose="02020603050405020304" pitchFamily="18" charset="0"/>
                      </a:endParaRPr>
                    </a:p>
                  </a:txBody>
                  <a:tcPr marL="33716" marR="33716" marT="0" marB="0"/>
                </a:tc>
                <a:extLst>
                  <a:ext uri="{0D108BD9-81ED-4DB2-BD59-A6C34878D82A}">
                    <a16:rowId xmlns:a16="http://schemas.microsoft.com/office/drawing/2014/main" val="1602562050"/>
                  </a:ext>
                </a:extLst>
              </a:tr>
              <a:tr h="1258897">
                <a:tc>
                  <a:txBody>
                    <a:bodyPr/>
                    <a:lstStyle/>
                    <a:p>
                      <a:pPr>
                        <a:lnSpc>
                          <a:spcPct val="150000"/>
                        </a:lnSpc>
                        <a:spcAft>
                          <a:spcPts val="800"/>
                        </a:spcAft>
                      </a:pPr>
                      <a:r>
                        <a:rPr lang="en-IN" sz="1600" kern="0">
                          <a:effectLst/>
                          <a:latin typeface="Times New Roman" panose="02020603050405020304" pitchFamily="18" charset="0"/>
                          <a:cs typeface="Times New Roman" panose="02020603050405020304" pitchFamily="18" charset="0"/>
                        </a:rPr>
                        <a:t>[5]</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3716" marR="33716" marT="0" marB="0"/>
                </a:tc>
                <a:tc>
                  <a:txBody>
                    <a:bodyPr/>
                    <a:lstStyle/>
                    <a:p>
                      <a:pPr algn="l" defTabSz="457200" rtl="0" eaLnBrk="1" latinLnBrk="0" hangingPunct="1">
                        <a:spcBef>
                          <a:spcPts val="1000"/>
                        </a:spcBef>
                        <a:spcAft>
                          <a:spcPts val="0"/>
                        </a:spcAft>
                        <a:buClr>
                          <a:schemeClr val="bg2">
                            <a:lumMod val="40000"/>
                            <a:lumOff val="60000"/>
                          </a:schemeClr>
                        </a:buClr>
                        <a:buSzPct val="80000"/>
                      </a:pPr>
                      <a:r>
                        <a:rPr lang="en-US" sz="1800" b="0" i="0" kern="1200" dirty="0" smtClean="0">
                          <a:solidFill>
                            <a:schemeClr val="tx1"/>
                          </a:solidFill>
                          <a:latin typeface="Times New Roman" panose="02020603050405020304" pitchFamily="18" charset="0"/>
                          <a:ea typeface="+mj-ea"/>
                          <a:cs typeface="Times New Roman" panose="02020603050405020304" pitchFamily="18" charset="0"/>
                        </a:rPr>
                        <a:t>Pedregosa, F., Varoquaux, G., et al. (2011). 'Scikit-learn: Machine learning in Python.' Journal of Machine Learning Research, 12, 2825-2830.</a:t>
                      </a:r>
                      <a:endParaRPr lang="en-IN" sz="1800" b="0" i="0" kern="1200" dirty="0">
                        <a:solidFill>
                          <a:schemeClr val="tx1"/>
                        </a:solidFill>
                        <a:latin typeface="Times New Roman" panose="02020603050405020304" pitchFamily="18" charset="0"/>
                        <a:ea typeface="+mj-ea"/>
                        <a:cs typeface="Times New Roman" panose="02020603050405020304" pitchFamily="18" charset="0"/>
                      </a:endParaRPr>
                    </a:p>
                  </a:txBody>
                  <a:tcPr marL="33716" marR="33716" marT="0" marB="0"/>
                </a:tc>
                <a:extLst>
                  <a:ext uri="{0D108BD9-81ED-4DB2-BD59-A6C34878D82A}">
                    <a16:rowId xmlns:a16="http://schemas.microsoft.com/office/drawing/2014/main" val="1831185221"/>
                  </a:ext>
                </a:extLst>
              </a:tr>
            </a:tbl>
          </a:graphicData>
        </a:graphic>
      </p:graphicFrame>
    </p:spTree>
    <p:extLst>
      <p:ext uri="{BB962C8B-B14F-4D97-AF65-F5344CB8AC3E}">
        <p14:creationId xmlns:p14="http://schemas.microsoft.com/office/powerpoint/2010/main" val="189169119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7E66DA-1B27-38CC-173A-A9253524B3D1}"/>
              </a:ext>
            </a:extLst>
          </p:cNvPr>
          <p:cNvSpPr/>
          <p:nvPr/>
        </p:nvSpPr>
        <p:spPr>
          <a:xfrm>
            <a:off x="3853587" y="2677190"/>
            <a:ext cx="4256230" cy="923330"/>
          </a:xfrm>
          <a:prstGeom prst="rect">
            <a:avLst/>
          </a:prstGeom>
          <a:noFill/>
        </p:spPr>
        <p:txBody>
          <a:bodyPr wrap="none" lIns="91440" tIns="45720" rIns="91440" bIns="45720">
            <a:spAutoFit/>
          </a:bodyPr>
          <a:lstStyle/>
          <a:p>
            <a:pPr algn="ctr"/>
            <a:r>
              <a:rPr lang="en-US" sz="5400" b="0" cap="none" spc="0" dirty="0">
                <a:ln w="0"/>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88266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4153</TotalTime>
  <Words>3288</Words>
  <Application>Microsoft Office PowerPoint</Application>
  <PresentationFormat>Widescreen</PresentationFormat>
  <Paragraphs>227</Paragraphs>
  <Slides>22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Algerian</vt:lpstr>
      <vt:lpstr>Arial</vt:lpstr>
      <vt:lpstr>Calibri</vt:lpstr>
      <vt:lpstr>Century Gothic</vt:lpstr>
      <vt:lpstr>MS Mincho</vt:lpstr>
      <vt:lpstr>Times New Roman</vt:lpstr>
      <vt:lpstr>Wingdings</vt:lpstr>
      <vt:lpstr>Wingdings 3</vt:lpstr>
      <vt:lpstr>Ion</vt:lpstr>
      <vt:lpstr>SAGAR INSTITUTE OF SCIENCE TECHNOLOGY AND RESEARCH</vt:lpstr>
      <vt:lpstr>INDEX</vt:lpstr>
      <vt:lpstr>ABSTRACT</vt:lpstr>
      <vt:lpstr>1. INTRODUCTION</vt:lpstr>
      <vt:lpstr>1.1 PROBLEM STATEMENT</vt:lpstr>
      <vt:lpstr>1.2 OBJECTIVES</vt:lpstr>
      <vt:lpstr>1.3 CHALLENGES</vt:lpstr>
      <vt:lpstr>2. LITERATURE SURVEY</vt:lpstr>
      <vt:lpstr>2.1 GAPS IN RESEARCH</vt:lpstr>
      <vt:lpstr>3.EXISTING SYSTEM</vt:lpstr>
      <vt:lpstr>4.PROPOSED SYSTEM</vt:lpstr>
      <vt:lpstr>4.1 WORK FLOW OF PROPOSED SYSTEM</vt:lpstr>
      <vt:lpstr>4.2 WORKING OF ALGORITHM</vt:lpstr>
      <vt:lpstr>4.3 ALGORITHM</vt:lpstr>
      <vt:lpstr>4.4 DATASET USED</vt:lpstr>
      <vt:lpstr>5. RESULT ANALYSIS AND DISCUSSION</vt:lpstr>
      <vt:lpstr>5.1 COMPARISON OF EXISTING SYSTEM WITH PROPOSED SYSTEM</vt:lpstr>
      <vt:lpstr>5.4 OUTPUT SCREEN</vt:lpstr>
      <vt:lpstr>CONCLUSION</vt:lpstr>
      <vt:lpstr>FUTURE ENHANCEMENT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METEOROLOGICAL CONDITIONS ON AIR QUALITY PREDICTION USING DEEP LEARNING</dc:title>
  <dc:creator>Sumera Khan</dc:creator>
  <cp:lastModifiedBy>sujal_sahu</cp:lastModifiedBy>
  <cp:revision>112</cp:revision>
  <dcterms:created xsi:type="dcterms:W3CDTF">2023-08-13T09:01:35Z</dcterms:created>
  <dcterms:modified xsi:type="dcterms:W3CDTF">2026-06-18T10:11:40Z</dcterms:modified>
</cp:coreProperties>
</file>